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92c11de72a34da2" /><Relationship Type="http://schemas.openxmlformats.org/officeDocument/2006/relationships/extended-properties" Target="/docProps/app.xml" Id="R674f447692934a43" /><Relationship Type="http://schemas.openxmlformats.org/officeDocument/2006/relationships/officeDocument" Target="/ppt/presentation.xml" Id="Rd4184b34402946d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d28f71d9ea64775"/>
  </p:sldMasterIdLst>
  <p:notesMasterIdLst>
    <p:notesMasterId xmlns:r="http://schemas.openxmlformats.org/officeDocument/2006/relationships" r:id="R89100285d86e42d9"/>
  </p:notesMasterIdLst>
  <p:sldIdLst>
    <p:sldId xmlns:r="http://schemas.openxmlformats.org/officeDocument/2006/relationships" id="256" r:id="R2aa07850cd9148e3"/>
    <p:sldId xmlns:r="http://schemas.openxmlformats.org/officeDocument/2006/relationships" id="257" r:id="R312aede8ea174f39"/>
    <p:sldId xmlns:r="http://schemas.openxmlformats.org/officeDocument/2006/relationships" id="258" r:id="Rd8d706bd33194250"/>
    <p:sldId xmlns:r="http://schemas.openxmlformats.org/officeDocument/2006/relationships" id="259" r:id="Rb3d57603618746e8"/>
    <p:sldId xmlns:r="http://schemas.openxmlformats.org/officeDocument/2006/relationships" id="260" r:id="Rbaf4d956b91c449e"/>
    <p:sldId xmlns:r="http://schemas.openxmlformats.org/officeDocument/2006/relationships" id="261" r:id="Rb02baec2b7aa46ee"/>
    <p:sldId xmlns:r="http://schemas.openxmlformats.org/officeDocument/2006/relationships" id="262" r:id="R79d775625a5b44d8"/>
    <p:sldId xmlns:r="http://schemas.openxmlformats.org/officeDocument/2006/relationships" id="263" r:id="Rc2d569edae0d4532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d6126602ab8408f" /><Relationship Type="http://schemas.openxmlformats.org/officeDocument/2006/relationships/slideMaster" Target="/ppt/slideMasters/slideMaster1.xml" Id="Rfd28f71d9ea64775" /><Relationship Type="http://schemas.openxmlformats.org/officeDocument/2006/relationships/notesMaster" Target="/ppt/notesMasters/notesMaster1.xml" Id="R89100285d86e42d9" /><Relationship Type="http://schemas.openxmlformats.org/officeDocument/2006/relationships/presProps" Target="/ppt/presProps.xml" Id="R402d0f1e4faf4785" /><Relationship Type="http://schemas.openxmlformats.org/officeDocument/2006/relationships/viewProps" Target="/ppt/viewProps.xml" Id="Rdae01b8f6c0a41a3" /><Relationship Type="http://schemas.openxmlformats.org/officeDocument/2006/relationships/tableStyles" Target="/ppt/tableStyles.xml" Id="R141ee35b79c04c3e" /><Relationship Type="http://schemas.openxmlformats.org/officeDocument/2006/relationships/slide" Target="/ppt/slides/slide1.xml" Id="R2aa07850cd9148e3" /><Relationship Type="http://schemas.openxmlformats.org/officeDocument/2006/relationships/slide" Target="/ppt/slides/slide2.xml" Id="R312aede8ea174f39" /><Relationship Type="http://schemas.openxmlformats.org/officeDocument/2006/relationships/slide" Target="/ppt/slides/slide3.xml" Id="Rd8d706bd33194250" /><Relationship Type="http://schemas.openxmlformats.org/officeDocument/2006/relationships/slide" Target="/ppt/slides/slide4.xml" Id="Rb3d57603618746e8" /><Relationship Type="http://schemas.openxmlformats.org/officeDocument/2006/relationships/slide" Target="/ppt/slides/slide5.xml" Id="Rbaf4d956b91c449e" /><Relationship Type="http://schemas.openxmlformats.org/officeDocument/2006/relationships/slide" Target="/ppt/slides/slide6.xml" Id="Rb02baec2b7aa46ee" /><Relationship Type="http://schemas.openxmlformats.org/officeDocument/2006/relationships/slide" Target="/ppt/slides/slide7.xml" Id="R79d775625a5b44d8" /><Relationship Type="http://schemas.openxmlformats.org/officeDocument/2006/relationships/slide" Target="/ppt/slides/slide8.xml" Id="Rc2d569edae0d453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3ef98045775498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cf01b08ee7b46a0" /><Relationship Type="http://schemas.openxmlformats.org/officeDocument/2006/relationships/notesMaster" Target="/ppt/notesMasters/notesMaster1.xml" Id="R4f72f41813a5400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39c7d7a2aea4115" /><Relationship Type="http://schemas.openxmlformats.org/officeDocument/2006/relationships/notesMaster" Target="/ppt/notesMasters/notesMaster1.xml" Id="Rd88715f0da5748b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c9820673e984e2e" /><Relationship Type="http://schemas.openxmlformats.org/officeDocument/2006/relationships/notesMaster" Target="/ppt/notesMasters/notesMaster1.xml" Id="R620e751f87af4bb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986401cf1f64e22" /><Relationship Type="http://schemas.openxmlformats.org/officeDocument/2006/relationships/notesMaster" Target="/ppt/notesMasters/notesMaster1.xml" Id="R741cd2b614764ad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bc906730e6e448e" /><Relationship Type="http://schemas.openxmlformats.org/officeDocument/2006/relationships/notesMaster" Target="/ppt/notesMasters/notesMaster1.xml" Id="R0339aa59451243c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aa24ede52614e29" /><Relationship Type="http://schemas.openxmlformats.org/officeDocument/2006/relationships/notesMaster" Target="/ppt/notesMasters/notesMaster1.xml" Id="R22732379eecc453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37ba21322234bb1" /><Relationship Type="http://schemas.openxmlformats.org/officeDocument/2006/relationships/notesMaster" Target="/ppt/notesMasters/notesMaster1.xml" Id="R178ea35994b3479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bf42ad73d51467b" /><Relationship Type="http://schemas.openxmlformats.org/officeDocument/2006/relationships/notesMaster" Target="/ppt/notesMasters/notesMaster1.xml" Id="Rab8d61f5da7e463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Security incidents are not single-prompt problems. Sentinel Relay coordinates specialist agents through Band and makes disagreement, approval, and accountability visible.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Enterprise incidents fail at handoffs. A single assistant collapses investigation, review, approval, and action into one opaque answer.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Band is not a final notification channel. It holds room context, routing, challenges, approvals, and the collaboration record that drives remediation and reporting.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War Room shows who owns each decision, what evidence is visible, what remains blocked, and why Band matters—without asking judges to inspect code.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differentiator. Risk challenges the exfiltration claim, the human gate opens, and remediation acts only inside the approved scope.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interface, server adapter, Band room, agents, evidence, AI reasoning, and report share one typed message contract. Mock mode changes transport, not the product story.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full verification gate passes. Deterministic replay is not a fake product; it is a reliability mode against the same structured workflow contract.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Without Band these are disconnected assistants. With Band they become an accountable response team. Sentinel Relay carries context forward, challenges itself, keeps humans in control, and leaves a report the company can trust.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b8395275b104c5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fb221e56eae49cc" /><Relationship Type="http://schemas.openxmlformats.org/officeDocument/2006/relationships/slideLayout" Target="/ppt/slideLayouts/slideLayout1.xml" Id="Rb2c7447270ab44d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2c7447270ab44d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c58c5a75734190" /><Relationship Type="http://schemas.openxmlformats.org/officeDocument/2006/relationships/image" Target="/ppt/media/image.png" Id="R30df7908d80a4795" /><Relationship Type="http://schemas.openxmlformats.org/officeDocument/2006/relationships/notesSlide" Target="/ppt/notesSlides/notesSlide1.xml" Id="R94861c91cdaf4d1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913e981cec439a" /><Relationship Type="http://schemas.openxmlformats.org/officeDocument/2006/relationships/notesSlide" Target="/ppt/notesSlides/notesSlide2.xml" Id="R769599c073ed4a7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23739f722f42ba" /><Relationship Type="http://schemas.openxmlformats.org/officeDocument/2006/relationships/notesSlide" Target="/ppt/notesSlides/notesSlide3.xml" Id="R65638eb758f8463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7e014ab9534b34" /><Relationship Type="http://schemas.openxmlformats.org/officeDocument/2006/relationships/image" Target="/ppt/media/image2.png" Id="R7d9d7b7e9ea24edd" /><Relationship Type="http://schemas.openxmlformats.org/officeDocument/2006/relationships/notesSlide" Target="/ppt/notesSlides/notesSlide4.xml" Id="R2ea2b548b5b447f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6a0f399caa4e3b" /><Relationship Type="http://schemas.openxmlformats.org/officeDocument/2006/relationships/image" Target="/ppt/media/image3.png" Id="R3c891ab2ac8d4858" /><Relationship Type="http://schemas.openxmlformats.org/officeDocument/2006/relationships/notesSlide" Target="/ppt/notesSlides/notesSlide5.xml" Id="R6ebef5ea4db7483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1d73c179414727" /><Relationship Type="http://schemas.openxmlformats.org/officeDocument/2006/relationships/notesSlide" Target="/ppt/notesSlides/notesSlide6.xml" Id="R6fb80321836f41e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7a700e7fe84a79" /><Relationship Type="http://schemas.openxmlformats.org/officeDocument/2006/relationships/image" Target="/ppt/media/image4.png" Id="Rec75345aee1a4c04" /><Relationship Type="http://schemas.openxmlformats.org/officeDocument/2006/relationships/notesSlide" Target="/ppt/notesSlides/notesSlide7.xml" Id="Rc3e785dee16c4c8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f4f5fe5d774fac" /><Relationship Type="http://schemas.openxmlformats.org/officeDocument/2006/relationships/image" Target="/ppt/media/image5.png" Id="Ra31527cb96584196" /><Relationship Type="http://schemas.openxmlformats.org/officeDocument/2006/relationships/notesSlide" Target="/ppt/notesSlides/notesSlide8.xml" Id="R9a1e8dab2d614ae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6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C2D7B35-71C9-4050-B360-053FA476F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85C2C1-379D-4D56-97E5-F625479A0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"/>
            <a:ext cx="17907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BBF24">
              <a:alpha val="13333"/>
            </a:srgbClr>
          </a:solidFill>
          <a:ln xmlns:a="http://schemas.openxmlformats.org/drawingml/2006/main" w="9525">
            <a:solidFill>
              <a:srgbClr val="FBBF24">
                <a:alpha val="53333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537230-88EF-4AEA-A542-158B56E1C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14350"/>
            <a:ext cx="1600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BBF24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BBF24"/>
                </a:solidFill>
                <a:latin typeface="Aptos"/>
                <a:ea typeface="Aptos"/>
                <a:cs typeface="Aptos"/>
              </a:rPr>
              <a:t>TRACK 3  /  HIGH-STAKES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88955C-835D-4073-8A14-DB2F52D04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85850"/>
            <a:ext cx="561975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E8F0FF"/>
                </a:solidFill>
                <a:latin typeface="Aptos Display"/>
                <a:ea typeface="Aptos Display"/>
                <a:cs typeface="Aptos Display"/>
              </a:defRPr>
            </a:pPr>
            <a:r>
              <a:rPr sz="4350" b="1">
                <a:solidFill>
                  <a:srgbClr val="E8F0FF"/>
                </a:solidFill>
                <a:latin typeface="Aptos Display"/>
                <a:ea typeface="Aptos Display"/>
                <a:cs typeface="Aptos Display"/>
              </a:rPr>
              <a:t>Agents shouldn’t</a:t>
            </a:r>
          </a:p>
          <a:p xmlns:a="http://schemas.openxmlformats.org/drawingml/2006/main">
            <a:pPr algn="l">
              <a:defRPr sz="4350" b="1">
                <a:solidFill>
                  <a:srgbClr val="E8F0FF"/>
                </a:solidFill>
                <a:latin typeface="Aptos Display"/>
                <a:ea typeface="Aptos Display"/>
                <a:cs typeface="Aptos Display"/>
              </a:defRPr>
            </a:pPr>
            <a:r>
              <a:rPr sz="4350" b="1">
                <a:solidFill>
                  <a:srgbClr val="E8F0FF"/>
                </a:solidFill>
                <a:latin typeface="Aptos Display"/>
                <a:ea typeface="Aptos Display"/>
                <a:cs typeface="Aptos Display"/>
              </a:rPr>
              <a:t>agree by default.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5C3F86-972B-4B37-9698-C3D59EB8A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14650"/>
            <a:ext cx="5238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91A4BF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91A4BF"/>
                </a:solidFill>
                <a:latin typeface="Aptos"/>
                <a:ea typeface="Aptos"/>
                <a:cs typeface="Aptos"/>
              </a:rPr>
              <a:t>Sentinel Relay turns isolated security agents into an accountable incident-response team through Band.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df7908d80a4795"/>
          <a:srcRect xmlns:a="http://schemas.openxmlformats.org/drawingml/2006/main" l="13155" t="0" r="1315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77000" y="666750"/>
            <a:ext cx="5143500" cy="43624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CC01C2-3DC6-448E-BD0A-D5CF560B0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666750"/>
            <a:ext cx="5143500" cy="436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233B5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AAA72F-B417-4153-A858-4E26B2DE6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181600"/>
            <a:ext cx="4381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BBF24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BBF24"/>
                </a:solidFill>
                <a:latin typeface="Aptos"/>
                <a:ea typeface="Aptos"/>
                <a:cs typeface="Aptos"/>
              </a:rPr>
              <a:t>RISK CHALLENGES THE CURRENT CONCLUSION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C87211-D328-4D04-A8A1-82A490989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86300"/>
            <a:ext cx="1524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38BDF8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38BDF8"/>
                </a:solidFill>
                <a:latin typeface="Aptos Display"/>
                <a:ea typeface="Aptos Display"/>
                <a:cs typeface="Aptos Display"/>
              </a:rPr>
              <a:t>7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9E08C8-B981-4AB9-BE6D-DAA54A4EF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86350"/>
            <a:ext cx="1524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1A4B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91A4BF"/>
                </a:solidFill>
                <a:latin typeface="Aptos"/>
                <a:ea typeface="Aptos"/>
                <a:cs typeface="Aptos"/>
              </a:rPr>
              <a:t>SPECIALIZED AGENTS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F1E4D0-D806-4A40-A0F2-45C043862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686300"/>
            <a:ext cx="1619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A78BFA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A78BFA"/>
                </a:solidFill>
                <a:latin typeface="Aptos Display"/>
                <a:ea typeface="Aptos Display"/>
                <a:cs typeface="Aptos Display"/>
              </a:rPr>
              <a:t>18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9D716A-86A6-41E2-ABB8-5A8C88AE1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5086350"/>
            <a:ext cx="1619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1A4B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91A4BF"/>
                </a:solidFill>
                <a:latin typeface="Aptos"/>
                <a:ea typeface="Aptos"/>
                <a:cs typeface="Aptos"/>
              </a:rPr>
              <a:t>VALIDATED MESSAGES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840E62-A589-4189-AEBD-65E83CD63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4686300"/>
            <a:ext cx="171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34D399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34D399"/>
                </a:solidFill>
                <a:latin typeface="Aptos Display"/>
                <a:ea typeface="Aptos Display"/>
                <a:cs typeface="Aptos Display"/>
              </a:rPr>
              <a:t>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162509-4E53-411A-8284-F0A2328D1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5086350"/>
            <a:ext cx="1714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1A4B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91A4BF"/>
                </a:solidFill>
                <a:latin typeface="Aptos"/>
                <a:ea typeface="Aptos"/>
                <a:cs typeface="Aptos"/>
              </a:rPr>
              <a:t>ACCOUNTABLE TRAIL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271C0C-5EFF-4B57-A093-7B4EF66AC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62650"/>
            <a:ext cx="6191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8F0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E8F0FF"/>
                </a:solidFill>
                <a:latin typeface="Aptos"/>
                <a:ea typeface="Aptos"/>
                <a:cs typeface="Aptos"/>
              </a:rPr>
              <a:t>Band-powered cybersecurity incident command center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845B50-8E46-4F26-AAE7-95D04A224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B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8AFE2C0-366D-4DD6-9E6C-BE3502359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91A4B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91A4BF"/>
                </a:solidFill>
                <a:latin typeface="Aptos"/>
                <a:ea typeface="Aptos"/>
                <a:cs typeface="Aptos"/>
              </a:rPr>
              <a:t>SENTINEL RELAY  /  BAND OF AGENTS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EBEFD1D-71C5-4BAD-8846-2CE6F857E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609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91A4B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91A4BF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44856826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6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9345183-B0D9-4358-8542-D90518D6B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718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2-marker">
            <a:extLst xmlns:a="http://schemas.openxmlformats.org/drawingml/2006/main">
              <a:ext uri="{FF2B5EF4-FFF2-40B4-BE49-F238E27FC236}">
                <a16:creationId xmlns:a16="http://schemas.microsoft.com/office/drawing/2014/main" id="{6CAC7ABB-F01F-4A92-BDED-2E285A842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81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718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2-label">
            <a:extLst xmlns:a="http://schemas.openxmlformats.org/drawingml/2006/main">
              <a:ext uri="{FF2B5EF4-FFF2-40B4-BE49-F238E27FC236}">
                <a16:creationId xmlns:a16="http://schemas.microsoft.com/office/drawing/2014/main" id="{0AE4974B-D258-4D13-AFA7-2C1FB4011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495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B718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B7185"/>
                </a:solidFill>
                <a:latin typeface="Aptos"/>
                <a:ea typeface="Aptos"/>
                <a:cs typeface="Aptos"/>
              </a:rPr>
              <a:t>THE COORDINATION GAP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E99984-C9C1-4398-8DDB-98AAC7AA5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1049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E8F0FF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E8F0FF"/>
                </a:solidFill>
                <a:latin typeface="Aptos Display"/>
                <a:ea typeface="Aptos Display"/>
                <a:cs typeface="Aptos Display"/>
              </a:rPr>
              <a:t>Incidents fail between specialists—not inside a prompt.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9AFA9F-7F86-401B-BCEB-56FF9642D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B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2E83DE-4161-4BE9-855E-08346C829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91A4B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91A4BF"/>
                </a:solidFill>
                <a:latin typeface="Aptos"/>
                <a:ea typeface="Aptos"/>
                <a:cs typeface="Aptos"/>
              </a:rPr>
              <a:t>SENTINEL RELAY  /  BAND OF AGENTS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159602-6AE4-416B-B62D-06455199F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609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91A4B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91A4B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BE1C07-CF74-4F71-868E-A525413D8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62100"/>
            <a:ext cx="7239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91A4B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91A4BF"/>
                </a:solidFill>
                <a:latin typeface="Aptos"/>
                <a:ea typeface="Aptos"/>
                <a:cs typeface="Aptos"/>
              </a:rPr>
              <a:t>The dangerous moments are where context, authority, and evidence cross team boundaries.</a:t>
            </a:r>
          </a:p>
        </p:txBody>
      </p:sp>
      <p:sp>
        <p:nvSpPr>
          <p:cNvPr id="9" name="detect">
            <a:extLst xmlns:a="http://schemas.openxmlformats.org/drawingml/2006/main">
              <a:ext uri="{FF2B5EF4-FFF2-40B4-BE49-F238E27FC236}">
                <a16:creationId xmlns:a16="http://schemas.microsoft.com/office/drawing/2014/main" id="{8BF5343C-9938-4DAE-A375-D65187753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57450"/>
            <a:ext cx="1952625" cy="156210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0B1A2E"/>
          </a:solidFill>
          <a:ln xmlns:a="http://schemas.openxmlformats.org/drawingml/2006/main" w="9525">
            <a:solidFill>
              <a:srgbClr val="233B5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0DFE3E-8BD0-46D2-94FB-2606967C6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57450"/>
            <a:ext cx="47625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79EDD0-DA49-4281-8DD7-3F373AFDD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09850"/>
            <a:ext cx="16287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8F0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E8F0FF"/>
                </a:solidFill>
                <a:latin typeface="Aptos"/>
                <a:ea typeface="Aptos"/>
                <a:cs typeface="Aptos"/>
              </a:rPr>
              <a:t>Detect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94D040-F3F0-47FA-93EE-E93BB0A6A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33700"/>
            <a:ext cx="162877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1A4B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1A4BF"/>
                </a:solidFill>
                <a:latin typeface="Aptos"/>
                <a:ea typeface="Aptos"/>
                <a:cs typeface="Aptos"/>
              </a:rPr>
              <a:t>Signals arrive without shared case context.</a:t>
            </a:r>
          </a:p>
        </p:txBody>
      </p:sp>
      <p:sp>
        <p:nvSpPr>
          <p:cNvPr id="13" name="investigate">
            <a:extLst xmlns:a="http://schemas.openxmlformats.org/drawingml/2006/main">
              <a:ext uri="{FF2B5EF4-FFF2-40B4-BE49-F238E27FC236}">
                <a16:creationId xmlns:a16="http://schemas.microsoft.com/office/drawing/2014/main" id="{2C2A7E2F-4AC5-4A2A-AB89-047396366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457450"/>
            <a:ext cx="1952625" cy="156210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0B1A2E"/>
          </a:solidFill>
          <a:ln xmlns:a="http://schemas.openxmlformats.org/drawingml/2006/main" w="9525">
            <a:solidFill>
              <a:srgbClr val="233B5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F09ADC-FE56-41E5-9A8C-CB083A09D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457450"/>
            <a:ext cx="47625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8B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52408B-022F-4131-8290-5614E594E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609850"/>
            <a:ext cx="16287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8F0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E8F0FF"/>
                </a:solidFill>
                <a:latin typeface="Aptos"/>
                <a:ea typeface="Aptos"/>
                <a:cs typeface="Aptos"/>
              </a:rPr>
              <a:t>Investigate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E73F2D-D76B-4632-BA62-E10F8E41C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933700"/>
            <a:ext cx="162877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1A4B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1A4BF"/>
                </a:solidFill>
                <a:latin typeface="Aptos"/>
                <a:ea typeface="Aptos"/>
                <a:cs typeface="Aptos"/>
              </a:rPr>
              <a:t>Findings fragment across security and engineering.</a:t>
            </a:r>
          </a:p>
        </p:txBody>
      </p:sp>
      <p:sp>
        <p:nvSpPr>
          <p:cNvPr id="17" name="decide">
            <a:extLst xmlns:a="http://schemas.openxmlformats.org/drawingml/2006/main">
              <a:ext uri="{FF2B5EF4-FFF2-40B4-BE49-F238E27FC236}">
                <a16:creationId xmlns:a16="http://schemas.microsoft.com/office/drawing/2014/main" id="{17A42A3A-3C67-4385-AB22-D0DBE483D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457450"/>
            <a:ext cx="1952625" cy="156210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0B1A2E"/>
          </a:solidFill>
          <a:ln xmlns:a="http://schemas.openxmlformats.org/drawingml/2006/main" w="9525">
            <a:solidFill>
              <a:srgbClr val="233B5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E321ECE-1D07-44E3-94E0-457B5BD62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457450"/>
            <a:ext cx="47625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718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F37B8F4-FE1E-495A-B7FC-6B7C4DFC6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609850"/>
            <a:ext cx="16287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8F0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E8F0FF"/>
                </a:solidFill>
                <a:latin typeface="Aptos"/>
                <a:ea typeface="Aptos"/>
                <a:cs typeface="Aptos"/>
              </a:rPr>
              <a:t>Decide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264CCF5-11A9-4D55-86ED-8F68A93DE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933700"/>
            <a:ext cx="162877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1A4B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1A4BF"/>
                </a:solidFill>
                <a:latin typeface="Aptos"/>
                <a:ea typeface="Aptos"/>
                <a:cs typeface="Aptos"/>
              </a:rPr>
              <a:t>Weak claims can survive without an explicit challenger.</a:t>
            </a:r>
          </a:p>
        </p:txBody>
      </p:sp>
      <p:sp>
        <p:nvSpPr>
          <p:cNvPr id="21" name="approve">
            <a:extLst xmlns:a="http://schemas.openxmlformats.org/drawingml/2006/main">
              <a:ext uri="{FF2B5EF4-FFF2-40B4-BE49-F238E27FC236}">
                <a16:creationId xmlns:a16="http://schemas.microsoft.com/office/drawing/2014/main" id="{70070B61-5293-4D63-85EF-C69C526CA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457450"/>
            <a:ext cx="1952625" cy="156210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0B1A2E"/>
          </a:solidFill>
          <a:ln xmlns:a="http://schemas.openxmlformats.org/drawingml/2006/main" w="9525">
            <a:solidFill>
              <a:srgbClr val="233B59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44CCA59-3385-473E-8089-4C0903408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457450"/>
            <a:ext cx="47625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BF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40807A0-EF88-4755-8CC8-0D3964B0E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609850"/>
            <a:ext cx="16287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8F0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E8F0FF"/>
                </a:solidFill>
                <a:latin typeface="Aptos"/>
                <a:ea typeface="Aptos"/>
                <a:cs typeface="Aptos"/>
              </a:rPr>
              <a:t>Approve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757841E-92ED-497B-AC3D-CA1316711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933700"/>
            <a:ext cx="162877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1A4B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1A4BF"/>
                </a:solidFill>
                <a:latin typeface="Aptos"/>
                <a:ea typeface="Aptos"/>
                <a:cs typeface="Aptos"/>
              </a:rPr>
              <a:t>Action scope gets blurred or reconstructed later.</a:t>
            </a:r>
          </a:p>
        </p:txBody>
      </p:sp>
      <p:sp>
        <p:nvSpPr>
          <p:cNvPr id="25" name="report">
            <a:extLst xmlns:a="http://schemas.openxmlformats.org/drawingml/2006/main">
              <a:ext uri="{FF2B5EF4-FFF2-40B4-BE49-F238E27FC236}">
                <a16:creationId xmlns:a16="http://schemas.microsoft.com/office/drawing/2014/main" id="{E5BC3B23-7E3F-421F-95BD-B7E5E1212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457450"/>
            <a:ext cx="1952625" cy="156210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0B1A2E"/>
          </a:solidFill>
          <a:ln xmlns:a="http://schemas.openxmlformats.org/drawingml/2006/main" w="9525">
            <a:solidFill>
              <a:srgbClr val="233B59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9EF23F2-EE45-4D54-8668-D0DF76C5C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457450"/>
            <a:ext cx="47625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6E7D126-470B-4EF8-8AEC-00B1424EC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609850"/>
            <a:ext cx="16287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8F0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E8F0FF"/>
                </a:solidFill>
                <a:latin typeface="Aptos"/>
                <a:ea typeface="Aptos"/>
                <a:cs typeface="Aptos"/>
              </a:rPr>
              <a:t>Report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1BA3337-9CEE-4EF5-B95A-F989C80B3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933700"/>
            <a:ext cx="162877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1A4B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1A4BF"/>
                </a:solidFill>
                <a:latin typeface="Aptos"/>
                <a:ea typeface="Aptos"/>
                <a:cs typeface="Aptos"/>
              </a:rPr>
              <a:t>Audit evidence is rebuilt after the fact.</a:t>
            </a:r>
          </a:p>
        </p:txBody>
      </p:sp>
      <p:cxnSp>
        <p:nvCxnSpPr>
          <p:cNvPr id="29" name=""/>
          <p:cNvCxnSpPr>
            <a:stCxn xmlns:a="http://schemas.openxmlformats.org/drawingml/2006/main" id="9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2505075" y="3238500"/>
            <a:ext cx="2952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33B59"/>
            </a:solidFill>
            <a:prstDash val="solid"/>
          </a:ln>
        </p:spPr>
      </p:cxnSp>
      <p:cxnSp>
        <p:nvCxnSpPr>
          <p:cNvPr id="30" name=""/>
          <p:cNvCxnSpPr>
            <a:stCxn xmlns:a="http://schemas.openxmlformats.org/drawingml/2006/main" id="13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4752975" y="3238500"/>
            <a:ext cx="2952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33B59"/>
            </a:solidFill>
            <a:prstDash val="solid"/>
          </a:ln>
        </p:spPr>
      </p:cxnSp>
      <p:cxnSp>
        <p:nvCxnSpPr>
          <p:cNvPr id="31" name=""/>
          <p:cNvCxnSpPr>
            <a:stCxn xmlns:a="http://schemas.openxmlformats.org/drawingml/2006/main" id="17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7000875" y="3238500"/>
            <a:ext cx="2952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33B59"/>
            </a:solidFill>
            <a:prstDash val="solid"/>
          </a:ln>
        </p:spPr>
      </p:cxnSp>
      <p:cxnSp>
        <p:nvCxnSpPr>
          <p:cNvPr id="32" name=""/>
          <p:cNvCxnSpPr>
            <a:stCxn xmlns:a="http://schemas.openxmlformats.org/drawingml/2006/main" id="21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9248775" y="3238500"/>
            <a:ext cx="2952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33B59"/>
            </a:solidFill>
            <a:prstDash val="solid"/>
          </a:ln>
        </p:spPr>
      </p:cxn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CDE590C-D638-4B57-AF75-808EE0DF0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95800"/>
            <a:ext cx="10944225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B7185">
              <a:alpha val="7059"/>
            </a:srgbClr>
          </a:solidFill>
          <a:ln xmlns:a="http://schemas.openxmlformats.org/drawingml/2006/main" w="9525">
            <a:solidFill>
              <a:srgbClr val="FB7185">
                <a:alpha val="33333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AF570FB-9EC2-459A-B957-1900706E1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86300"/>
            <a:ext cx="10287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B718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B7185"/>
                </a:solidFill>
                <a:latin typeface="Aptos"/>
                <a:ea typeface="Aptos"/>
                <a:cs typeface="Aptos"/>
              </a:rPr>
              <a:t>ONE AGENT CAN SUMMARIZE. IT CANNOT CREATE SEPARATION OF DUTIES.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56DF34C-330F-4DE4-99A4-A05F73B6E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05400"/>
            <a:ext cx="10001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E8F0F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E8F0FF"/>
                </a:solidFill>
                <a:latin typeface="Aptos"/>
                <a:ea typeface="Aptos"/>
                <a:cs typeface="Aptos"/>
              </a:rPr>
              <a:t>Enterprise response needs specialized roles, shared context, explicit challenge, scoped authority, and a durable record.</a:t>
            </a:r>
          </a:p>
        </p:txBody>
      </p:sp>
    </p:spTree>
    <p:extLst>
      <p:ext uri="{BB962C8B-B14F-4D97-AF65-F5344CB8AC3E}">
        <p14:creationId xmlns:p14="http://schemas.microsoft.com/office/powerpoint/2010/main" val="8788090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6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7209D1F-6AE0-4DFD-81BE-4C3B8F1BB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3-marker">
            <a:extLst xmlns:a="http://schemas.openxmlformats.org/drawingml/2006/main">
              <a:ext uri="{FF2B5EF4-FFF2-40B4-BE49-F238E27FC236}">
                <a16:creationId xmlns:a16="http://schemas.microsoft.com/office/drawing/2014/main" id="{1325C116-CE5B-410F-B977-DB29CA1AA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81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3-label">
            <a:extLst xmlns:a="http://schemas.openxmlformats.org/drawingml/2006/main">
              <a:ext uri="{FF2B5EF4-FFF2-40B4-BE49-F238E27FC236}">
                <a16:creationId xmlns:a16="http://schemas.microsoft.com/office/drawing/2014/main" id="{EE172D7D-0A2A-4F9F-8A29-14D41855B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495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8BDF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8BDF8"/>
                </a:solidFill>
                <a:latin typeface="Aptos"/>
                <a:ea typeface="Aptos"/>
                <a:cs typeface="Aptos"/>
              </a:rPr>
              <a:t>THE OPERATING MODEL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014B9F-A08C-4E72-8A9B-3136EF098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1049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E8F0FF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E8F0FF"/>
                </a:solidFill>
                <a:latin typeface="Aptos Display"/>
                <a:ea typeface="Aptos Display"/>
                <a:cs typeface="Aptos Display"/>
              </a:rPr>
              <a:t>Band turns isolated agents into one accountable system.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3A6052-4893-4CC1-93C1-2783F890D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B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D0FB6D-24FA-4A88-AAFE-C3BFCB51B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91A4B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91A4BF"/>
                </a:solidFill>
                <a:latin typeface="Aptos"/>
                <a:ea typeface="Aptos"/>
                <a:cs typeface="Aptos"/>
              </a:rPr>
              <a:t>SENTINEL RELAY  /  BAND OF AGENTS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F148C2-1193-47E4-A8FF-FF6DBCC8B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609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91A4B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91A4BF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F2DD61-D0D4-47FE-91B2-0A2B6CA9F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43050"/>
            <a:ext cx="8382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91A4B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91A4BF"/>
                </a:solidFill>
                <a:latin typeface="Aptos"/>
                <a:ea typeface="Aptos"/>
                <a:cs typeface="Aptos"/>
              </a:rPr>
              <a:t>Structured room context moves through planning, execution, review, decision, and handoff.</a:t>
            </a:r>
          </a:p>
        </p:txBody>
      </p:sp>
      <p:sp>
        <p:nvSpPr>
          <p:cNvPr id="9" name="evidence">
            <a:extLst xmlns:a="http://schemas.openxmlformats.org/drawingml/2006/main">
              <a:ext uri="{FF2B5EF4-FFF2-40B4-BE49-F238E27FC236}">
                <a16:creationId xmlns:a16="http://schemas.microsoft.com/office/drawing/2014/main" id="{84B088E5-3D4F-4B37-951C-26A6EA121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24125"/>
            <a:ext cx="1809750" cy="16002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0B1A2E"/>
          </a:solidFill>
          <a:ln xmlns:a="http://schemas.openxmlformats.org/drawingml/2006/main" w="9525">
            <a:solidFill>
              <a:srgbClr val="233B5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71AD75-31C2-4454-BE29-8E9AB4CAC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24125"/>
            <a:ext cx="47625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A4B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A2E4BB-C3E5-4244-AE6D-00B8F5126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76525"/>
            <a:ext cx="1485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8F0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E8F0FF"/>
                </a:solidFill>
                <a:latin typeface="Aptos"/>
                <a:ea typeface="Aptos"/>
                <a:cs typeface="Aptos"/>
              </a:rPr>
              <a:t>Evidence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1FD874-A543-4807-BBF7-83503A068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00375"/>
            <a:ext cx="14859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1A4B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1A4BF"/>
                </a:solidFill>
                <a:latin typeface="Aptos"/>
                <a:ea typeface="Aptos"/>
                <a:cs typeface="Aptos"/>
              </a:rPr>
              <a:t>API logs</a:t>
            </a:r>
          </a:p>
          <a:p xmlns:a="http://schemas.openxmlformats.org/drawingml/2006/main">
            <a:pPr algn="l">
              <a:defRPr sz="975" b="0">
                <a:solidFill>
                  <a:srgbClr val="91A4B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1A4BF"/>
                </a:solidFill>
                <a:latin typeface="Aptos"/>
                <a:ea typeface="Aptos"/>
                <a:cs typeface="Aptos"/>
              </a:rPr>
              <a:t>Auth events</a:t>
            </a:r>
          </a:p>
          <a:p xmlns:a="http://schemas.openxmlformats.org/drawingml/2006/main">
            <a:pPr algn="l">
              <a:defRPr sz="975" b="0">
                <a:solidFill>
                  <a:srgbClr val="91A4B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1A4BF"/>
                </a:solidFill>
                <a:latin typeface="Aptos"/>
                <a:ea typeface="Aptos"/>
                <a:cs typeface="Aptos"/>
              </a:rPr>
              <a:t>Code diff</a:t>
            </a:r>
          </a:p>
          <a:p xmlns:a="http://schemas.openxmlformats.org/drawingml/2006/main">
            <a:pPr algn="l">
              <a:defRPr sz="975" b="0">
                <a:solidFill>
                  <a:srgbClr val="91A4B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1A4BF"/>
                </a:solidFill>
                <a:latin typeface="Aptos"/>
                <a:ea typeface="Aptos"/>
                <a:cs typeface="Aptos"/>
              </a:rPr>
              <a:t>Incident policy</a:t>
            </a:r>
          </a:p>
        </p:txBody>
      </p:sp>
      <p:sp>
        <p:nvSpPr>
          <p:cNvPr id="13" name="band-room">
            <a:extLst xmlns:a="http://schemas.openxmlformats.org/drawingml/2006/main">
              <a:ext uri="{FF2B5EF4-FFF2-40B4-BE49-F238E27FC236}">
                <a16:creationId xmlns:a16="http://schemas.microsoft.com/office/drawing/2014/main" id="{0D4BE025-2CFB-4017-9598-31C34A114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2209800"/>
            <a:ext cx="2609850" cy="2228850"/>
          </a:xfrm>
          <a:prstGeom xmlns:a="http://schemas.openxmlformats.org/drawingml/2006/main" prst="roundRect">
            <a:avLst>
              <a:gd name="adj" fmla="val 3419"/>
            </a:avLst>
          </a:prstGeom>
          <a:solidFill xmlns:a="http://schemas.openxmlformats.org/drawingml/2006/main">
            <a:srgbClr val="0B1A2E"/>
          </a:solidFill>
          <a:ln xmlns:a="http://schemas.openxmlformats.org/drawingml/2006/main" w="9525">
            <a:solidFill>
              <a:srgbClr val="233B5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893C95-958E-49A8-8F1D-99BC66789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2209800"/>
            <a:ext cx="47625" cy="2228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E9E23E-D5CB-4DC6-92E7-FAF1FC095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2362200"/>
            <a:ext cx="228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8F0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E8F0FF"/>
                </a:solidFill>
                <a:latin typeface="Aptos"/>
                <a:ea typeface="Aptos"/>
                <a:cs typeface="Aptos"/>
              </a:rPr>
              <a:t>Shared Band room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2F79100-636A-4930-B242-BAFB2FB4D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2686050"/>
            <a:ext cx="228600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1A4B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1A4BF"/>
                </a:solidFill>
                <a:latin typeface="Aptos"/>
                <a:ea typeface="Aptos"/>
                <a:cs typeface="Aptos"/>
              </a:rPr>
              <a:t>Agent identity</a:t>
            </a:r>
          </a:p>
          <a:p xmlns:a="http://schemas.openxmlformats.org/drawingml/2006/main">
            <a:pPr algn="l">
              <a:defRPr sz="975" b="0">
                <a:solidFill>
                  <a:srgbClr val="91A4B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1A4BF"/>
                </a:solidFill>
                <a:latin typeface="Aptos"/>
                <a:ea typeface="Aptos"/>
                <a:cs typeface="Aptos"/>
              </a:rPr>
              <a:t>Task routing</a:t>
            </a:r>
          </a:p>
          <a:p xmlns:a="http://schemas.openxmlformats.org/drawingml/2006/main">
            <a:pPr algn="l">
              <a:defRPr sz="975" b="0">
                <a:solidFill>
                  <a:srgbClr val="91A4B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1A4BF"/>
                </a:solidFill>
                <a:latin typeface="Aptos"/>
                <a:ea typeface="Aptos"/>
                <a:cs typeface="Aptos"/>
              </a:rPr>
              <a:t>Structured findings</a:t>
            </a:r>
          </a:p>
          <a:p xmlns:a="http://schemas.openxmlformats.org/drawingml/2006/main">
            <a:pPr algn="l">
              <a:defRPr sz="975" b="0">
                <a:solidFill>
                  <a:srgbClr val="91A4B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1A4BF"/>
                </a:solidFill>
                <a:latin typeface="Aptos"/>
                <a:ea typeface="Aptos"/>
                <a:cs typeface="Aptos"/>
              </a:rPr>
              <a:t>Challenges</a:t>
            </a:r>
          </a:p>
          <a:p xmlns:a="http://schemas.openxmlformats.org/drawingml/2006/main">
            <a:pPr algn="l">
              <a:defRPr sz="975" b="0">
                <a:solidFill>
                  <a:srgbClr val="91A4B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1A4BF"/>
                </a:solidFill>
                <a:latin typeface="Aptos"/>
                <a:ea typeface="Aptos"/>
                <a:cs typeface="Aptos"/>
              </a:rPr>
              <a:t>Approval state</a:t>
            </a:r>
          </a:p>
          <a:p xmlns:a="http://schemas.openxmlformats.org/drawingml/2006/main">
            <a:pPr algn="l">
              <a:defRPr sz="975" b="0">
                <a:solidFill>
                  <a:srgbClr val="91A4B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1A4BF"/>
                </a:solidFill>
                <a:latin typeface="Aptos"/>
                <a:ea typeface="Aptos"/>
                <a:cs typeface="Aptos"/>
              </a:rPr>
              <a:t>Audit context</a:t>
            </a:r>
          </a:p>
        </p:txBody>
      </p:sp>
      <p:sp>
        <p:nvSpPr>
          <p:cNvPr id="17" name="agents">
            <a:extLst xmlns:a="http://schemas.openxmlformats.org/drawingml/2006/main">
              <a:ext uri="{FF2B5EF4-FFF2-40B4-BE49-F238E27FC236}">
                <a16:creationId xmlns:a16="http://schemas.microsoft.com/office/drawing/2014/main" id="{6CB0C981-010B-4661-AA54-9DC2DB89D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209800"/>
            <a:ext cx="2324100" cy="2228850"/>
          </a:xfrm>
          <a:prstGeom xmlns:a="http://schemas.openxmlformats.org/drawingml/2006/main" prst="roundRect">
            <a:avLst>
              <a:gd name="adj" fmla="val 3419"/>
            </a:avLst>
          </a:prstGeom>
          <a:solidFill xmlns:a="http://schemas.openxmlformats.org/drawingml/2006/main">
            <a:srgbClr val="0B1A2E"/>
          </a:solidFill>
          <a:ln xmlns:a="http://schemas.openxmlformats.org/drawingml/2006/main" w="9525">
            <a:solidFill>
              <a:srgbClr val="233B5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EF222EF-9178-4AF6-A3BF-938BDEAA3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209800"/>
            <a:ext cx="47625" cy="2228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8B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A42979C-B17C-4EB4-90F3-64E23FD59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62200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8F0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E8F0FF"/>
                </a:solidFill>
                <a:latin typeface="Aptos"/>
                <a:ea typeface="Aptos"/>
                <a:cs typeface="Aptos"/>
              </a:rPr>
              <a:t>Specialist agents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7EF8648-F93E-47B0-A752-FB6D66398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86050"/>
            <a:ext cx="200025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1A4B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1A4BF"/>
                </a:solidFill>
                <a:latin typeface="Aptos"/>
                <a:ea typeface="Aptos"/>
                <a:cs typeface="Aptos"/>
              </a:rPr>
              <a:t>Forensics</a:t>
            </a:r>
          </a:p>
          <a:p xmlns:a="http://schemas.openxmlformats.org/drawingml/2006/main">
            <a:pPr algn="l">
              <a:defRPr sz="975" b="0">
                <a:solidFill>
                  <a:srgbClr val="91A4B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1A4BF"/>
                </a:solidFill>
                <a:latin typeface="Aptos"/>
                <a:ea typeface="Aptos"/>
                <a:cs typeface="Aptos"/>
              </a:rPr>
              <a:t>Code Review</a:t>
            </a:r>
          </a:p>
          <a:p xmlns:a="http://schemas.openxmlformats.org/drawingml/2006/main">
            <a:pPr algn="l">
              <a:defRPr sz="975" b="0">
                <a:solidFill>
                  <a:srgbClr val="91A4B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1A4BF"/>
                </a:solidFill>
                <a:latin typeface="Aptos"/>
                <a:ea typeface="Aptos"/>
                <a:cs typeface="Aptos"/>
              </a:rPr>
              <a:t>Threat Intelligence</a:t>
            </a:r>
          </a:p>
          <a:p xmlns:a="http://schemas.openxmlformats.org/drawingml/2006/main">
            <a:pPr algn="l">
              <a:defRPr sz="975" b="0">
                <a:solidFill>
                  <a:srgbClr val="91A4B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1A4BF"/>
                </a:solidFill>
                <a:latin typeface="Aptos"/>
                <a:ea typeface="Aptos"/>
                <a:cs typeface="Aptos"/>
              </a:rPr>
              <a:t>Risk &amp; Compliance</a:t>
            </a:r>
          </a:p>
        </p:txBody>
      </p:sp>
      <p:sp>
        <p:nvSpPr>
          <p:cNvPr id="21" name="human">
            <a:extLst xmlns:a="http://schemas.openxmlformats.org/drawingml/2006/main">
              <a:ext uri="{FF2B5EF4-FFF2-40B4-BE49-F238E27FC236}">
                <a16:creationId xmlns:a16="http://schemas.microsoft.com/office/drawing/2014/main" id="{D39A364D-DC2B-459E-BC02-24FAE9788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2209800"/>
            <a:ext cx="26289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0B1A2E"/>
          </a:solidFill>
          <a:ln xmlns:a="http://schemas.openxmlformats.org/drawingml/2006/main" w="9525">
            <a:solidFill>
              <a:srgbClr val="233B59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D73D476-4543-454E-824E-4F2BC4DF4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2209800"/>
            <a:ext cx="4762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BF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4D309FA-89CF-4659-A9D0-8F5500CF1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362200"/>
            <a:ext cx="2305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8F0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E8F0FF"/>
                </a:solidFill>
                <a:latin typeface="Aptos"/>
                <a:ea typeface="Aptos"/>
                <a:cs typeface="Aptos"/>
              </a:rPr>
              <a:t>Human Security Lead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7C8FA7D-B343-4247-9259-22D6839BC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686050"/>
            <a:ext cx="23050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1A4B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1A4BF"/>
                </a:solidFill>
                <a:latin typeface="Aptos"/>
                <a:ea typeface="Aptos"/>
                <a:cs typeface="Aptos"/>
              </a:rPr>
              <a:t>Approves a precise action scope.</a:t>
            </a:r>
          </a:p>
        </p:txBody>
      </p:sp>
      <p:sp>
        <p:nvSpPr>
          <p:cNvPr id="25" name="output">
            <a:extLst xmlns:a="http://schemas.openxmlformats.org/drawingml/2006/main">
              <a:ext uri="{FF2B5EF4-FFF2-40B4-BE49-F238E27FC236}">
                <a16:creationId xmlns:a16="http://schemas.microsoft.com/office/drawing/2014/main" id="{55117B8E-87C4-4AF7-834D-A800C6EEB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3448050"/>
            <a:ext cx="26289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0B1A2E"/>
          </a:solidFill>
          <a:ln xmlns:a="http://schemas.openxmlformats.org/drawingml/2006/main" w="9525">
            <a:solidFill>
              <a:srgbClr val="233B59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E7B303E-552C-4554-9334-3B137CEB3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3448050"/>
            <a:ext cx="4762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537DF5E-CADF-451E-87DA-C6CA1C6CA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3600450"/>
            <a:ext cx="2305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8F0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E8F0FF"/>
                </a:solidFill>
                <a:latin typeface="Aptos"/>
                <a:ea typeface="Aptos"/>
                <a:cs typeface="Aptos"/>
              </a:rPr>
              <a:t>Remediation + report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D8674F0-B45A-4ACA-955F-1840D1F16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3924300"/>
            <a:ext cx="23050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1A4B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1A4BF"/>
                </a:solidFill>
                <a:latin typeface="Aptos"/>
                <a:ea typeface="Aptos"/>
                <a:cs typeface="Aptos"/>
              </a:rPr>
              <a:t>Acts only inside approved scope.</a:t>
            </a:r>
          </a:p>
        </p:txBody>
      </p:sp>
      <p:cxnSp>
        <p:nvCxnSpPr>
          <p:cNvPr id="29" name=""/>
          <p:cNvCxnSpPr>
            <a:stCxn xmlns:a="http://schemas.openxmlformats.org/drawingml/2006/main" id="9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2362200" y="3324225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1A4BF"/>
            </a:solidFill>
            <a:prstDash val="solid"/>
          </a:ln>
        </p:spPr>
      </p:cxnSp>
      <p:cxnSp>
        <p:nvCxnSpPr>
          <p:cNvPr id="30" name=""/>
          <p:cNvCxnSpPr>
            <a:stCxn xmlns:a="http://schemas.openxmlformats.org/drawingml/2006/main" id="13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5495925" y="3324225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8BDF8"/>
            </a:solidFill>
            <a:prstDash val="solid"/>
          </a:ln>
        </p:spPr>
      </p:cxnSp>
      <p:cxnSp>
        <p:nvCxnSpPr>
          <p:cNvPr id="31" name=""/>
          <p:cNvCxnSpPr>
            <a:stCxn xmlns:a="http://schemas.openxmlformats.org/drawingml/2006/main" id="17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 flipV="1">
            <a:off x="8343900" y="2705100"/>
            <a:ext cx="523875" cy="6191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BBF24"/>
            </a:solidFill>
            <a:prstDash val="solid"/>
          </a:ln>
        </p:spPr>
      </p:cxnSp>
      <p:cxnSp>
        <p:nvCxnSpPr>
          <p:cNvPr id="32" name=""/>
          <p:cNvCxnSpPr>
            <a:stCxn xmlns:a="http://schemas.openxmlformats.org/drawingml/2006/main" id="21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 flipH="1">
            <a:off x="8867775" y="2705100"/>
            <a:ext cx="2628900" cy="12382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4D399"/>
            </a:solidFill>
            <a:prstDash val="solid"/>
          </a:ln>
        </p:spPr>
      </p:cxnSp>
      <p:cxnSp>
        <p:nvCxnSpPr>
          <p:cNvPr id="33" name=""/>
          <p:cNvCxnSpPr>
            <a:stCxn xmlns:a="http://schemas.openxmlformats.org/drawingml/2006/main" id="17" idx="2"/>
            <a:endCxn xmlns:a="http://schemas.openxmlformats.org/drawingml/2006/main" id="13" idx="2"/>
          </p:cNvCxnSpPr>
          <p:nvPr/>
        </p:nvCxnSpPr>
        <p:spPr>
          <a:xfrm xmlns:a="http://schemas.openxmlformats.org/drawingml/2006/main" flipH="1">
            <a:off x="4191000" y="4438650"/>
            <a:ext cx="2990850" cy="0"/>
          </a:xfrm>
          <a:prstGeom xmlns:a="http://schemas.openxmlformats.org/drawingml/2006/main" prst="curvedConnector2">
            <a:avLst/>
          </a:prstGeom>
          <a:ln xmlns:a="http://schemas.openxmlformats.org/drawingml/2006/main" w="19050">
            <a:solidFill>
              <a:srgbClr val="A78BFA"/>
            </a:solidFill>
            <a:prstDash val="dash"/>
          </a:ln>
        </p:spPr>
      </p:cxn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F478E28-D3F4-433D-AABA-4636AABB1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00625"/>
            <a:ext cx="17145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38BDF8">
              <a:alpha val="13333"/>
            </a:srgbClr>
          </a:solidFill>
          <a:ln xmlns:a="http://schemas.openxmlformats.org/drawingml/2006/main" w="9525">
            <a:solidFill>
              <a:srgbClr val="38BDF8">
                <a:alpha val="53333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F9A1949-61D8-46EB-9439-DCB68ED9F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19675"/>
            <a:ext cx="1524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38BDF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38BDF8"/>
                </a:solidFill>
                <a:latin typeface="Aptos"/>
                <a:ea typeface="Aptos"/>
                <a:cs typeface="Aptos"/>
              </a:rPr>
              <a:t>PLANNING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0BC309A-2DC1-4892-9DDA-47677D44C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000625"/>
            <a:ext cx="17145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A78BFA">
              <a:alpha val="13333"/>
            </a:srgbClr>
          </a:solidFill>
          <a:ln xmlns:a="http://schemas.openxmlformats.org/drawingml/2006/main" w="9525">
            <a:solidFill>
              <a:srgbClr val="A78BFA">
                <a:alpha val="53333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A030C6C-080D-4147-BEB9-FBFADAFBE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019675"/>
            <a:ext cx="1524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A78BF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A78BFA"/>
                </a:solidFill>
                <a:latin typeface="Aptos"/>
                <a:ea typeface="Aptos"/>
                <a:cs typeface="Aptos"/>
              </a:rPr>
              <a:t>EXECUTION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1526AC0-5D7C-431E-8FD0-7469B34B6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5000625"/>
            <a:ext cx="17145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B7185">
              <a:alpha val="13333"/>
            </a:srgbClr>
          </a:solidFill>
          <a:ln xmlns:a="http://schemas.openxmlformats.org/drawingml/2006/main" w="9525">
            <a:solidFill>
              <a:srgbClr val="FB7185">
                <a:alpha val="53333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B0B1A51-A5A5-4307-90B4-C13C84FF0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5019675"/>
            <a:ext cx="1524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B718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B7185"/>
                </a:solidFill>
                <a:latin typeface="Aptos"/>
                <a:ea typeface="Aptos"/>
                <a:cs typeface="Aptos"/>
              </a:rPr>
              <a:t>REVIEW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1F3664E-91B7-4244-B0EE-990A270E0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000625"/>
            <a:ext cx="17145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BBF24">
              <a:alpha val="13333"/>
            </a:srgbClr>
          </a:solidFill>
          <a:ln xmlns:a="http://schemas.openxmlformats.org/drawingml/2006/main" w="9525">
            <a:solidFill>
              <a:srgbClr val="FBBF24">
                <a:alpha val="53333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3E944BE-F62E-4380-8F32-F4EAE1661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5019675"/>
            <a:ext cx="1524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BBF24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BBF24"/>
                </a:solidFill>
                <a:latin typeface="Aptos"/>
                <a:ea typeface="Aptos"/>
                <a:cs typeface="Aptos"/>
              </a:rPr>
              <a:t>DECISION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21A1596-CA84-4D61-97AF-4D81D349E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5000625"/>
            <a:ext cx="17145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34D399">
              <a:alpha val="13333"/>
            </a:srgbClr>
          </a:solidFill>
          <a:ln xmlns:a="http://schemas.openxmlformats.org/drawingml/2006/main" w="9525">
            <a:solidFill>
              <a:srgbClr val="34D399">
                <a:alpha val="53333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387D39B-D7A9-4CE9-8DC5-87553262C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019675"/>
            <a:ext cx="1524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34D399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34D399"/>
                </a:solidFill>
                <a:latin typeface="Aptos"/>
                <a:ea typeface="Aptos"/>
                <a:cs typeface="Aptos"/>
              </a:rPr>
              <a:t>HANDOFF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FE61F9E-D2CA-4427-978C-9F4810307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600700"/>
            <a:ext cx="108108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8F0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E8F0FF"/>
                </a:solidFill>
                <a:latin typeface="Aptos"/>
                <a:ea typeface="Aptos"/>
                <a:cs typeface="Aptos"/>
              </a:rPr>
              <a:t>Band is present before the first finding and after the final decision—it is the workflow’s shared coordination layer.</a:t>
            </a:r>
          </a:p>
        </p:txBody>
      </p:sp>
    </p:spTree>
    <p:extLst>
      <p:ext uri="{BB962C8B-B14F-4D97-AF65-F5344CB8AC3E}">
        <p14:creationId xmlns:p14="http://schemas.microsoft.com/office/powerpoint/2010/main" val="48896783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6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66A24E2-E327-4276-B9B5-F1A9D3126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4-marker">
            <a:extLst xmlns:a="http://schemas.openxmlformats.org/drawingml/2006/main">
              <a:ext uri="{FF2B5EF4-FFF2-40B4-BE49-F238E27FC236}">
                <a16:creationId xmlns:a16="http://schemas.microsoft.com/office/drawing/2014/main" id="{82784D74-E0B4-4F49-8631-8456037B8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81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4-label">
            <a:extLst xmlns:a="http://schemas.openxmlformats.org/drawingml/2006/main">
              <a:ext uri="{FF2B5EF4-FFF2-40B4-BE49-F238E27FC236}">
                <a16:creationId xmlns:a16="http://schemas.microsoft.com/office/drawing/2014/main" id="{651547A7-2F4C-4F92-BDBE-94678D235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495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8BDF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8BDF8"/>
                </a:solidFill>
                <a:latin typeface="Aptos"/>
                <a:ea typeface="Aptos"/>
                <a:cs typeface="Aptos"/>
              </a:rPr>
              <a:t>PRODUCT PROOF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5E17D0-83E4-4A26-9AF9-3CFAB66AF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1049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E8F0FF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E8F0FF"/>
                </a:solidFill>
                <a:latin typeface="Aptos Display"/>
                <a:ea typeface="Aptos Display"/>
                <a:cs typeface="Aptos Display"/>
              </a:rPr>
              <a:t>The War Room makes coordination legible in seconds.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A7D535-54F2-4FD6-B07F-FD1DE9A40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B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785D40-0A73-4F7A-B16C-19B722A3C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91A4B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91A4BF"/>
                </a:solidFill>
                <a:latin typeface="Aptos"/>
                <a:ea typeface="Aptos"/>
                <a:cs typeface="Aptos"/>
              </a:rPr>
              <a:t>SENTINEL RELAY  /  BAND OF AGENTS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8BDDA3-E59A-4B2A-90A7-F9B00FF17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609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91A4B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91A4BF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9d7b7e9ea24edd"/>
          <a:srcRect xmlns:a="http://schemas.openxmlformats.org/drawingml/2006/main" l="0" t="22603" r="0" b="2260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3400" y="1581150"/>
            <a:ext cx="11125200" cy="381000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ED391E-9349-459C-91FD-28C311106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81150"/>
            <a:ext cx="11125200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233B5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A44F74-D554-4950-BB32-B2CDB36FF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91150"/>
            <a:ext cx="111252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11F">
              <a:alpha val="9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B2C892-FFA7-4FBE-9FE2-B41E99397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91175"/>
            <a:ext cx="17145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38BDF8">
              <a:alpha val="13333"/>
            </a:srgbClr>
          </a:solidFill>
          <a:ln xmlns:a="http://schemas.openxmlformats.org/drawingml/2006/main" w="9525">
            <a:solidFill>
              <a:srgbClr val="38BDF8">
                <a:alpha val="53333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75DD1A-CA07-4661-99BC-485DFCF01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10225"/>
            <a:ext cx="1524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38BDF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38BDF8"/>
                </a:solidFill>
                <a:latin typeface="Aptos"/>
                <a:ea typeface="Aptos"/>
                <a:cs typeface="Aptos"/>
              </a:rPr>
              <a:t>SHARED ROOM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51A446-B540-4A0B-88ED-E0B14EE26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591175"/>
            <a:ext cx="17145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A78BFA">
              <a:alpha val="13333"/>
            </a:srgbClr>
          </a:solidFill>
          <a:ln xmlns:a="http://schemas.openxmlformats.org/drawingml/2006/main" w="9525">
            <a:solidFill>
              <a:srgbClr val="A78BFA">
                <a:alpha val="53333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B42518-7BFB-4AD6-98BD-1E476FB02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610225"/>
            <a:ext cx="1524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A78BF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A78BFA"/>
                </a:solidFill>
                <a:latin typeface="Aptos"/>
                <a:ea typeface="Aptos"/>
                <a:cs typeface="Aptos"/>
              </a:rPr>
              <a:t>EVIDENCE STATE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8E0D7A-4F3D-4BB0-BFC2-41BFF188F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5591175"/>
            <a:ext cx="17145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38BDF8">
              <a:alpha val="13333"/>
            </a:srgbClr>
          </a:solidFill>
          <a:ln xmlns:a="http://schemas.openxmlformats.org/drawingml/2006/main" w="9525">
            <a:solidFill>
              <a:srgbClr val="38BDF8">
                <a:alpha val="53333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EC2A50-83A4-4070-9C16-E5023CFFD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5610225"/>
            <a:ext cx="1524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38BDF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38BDF8"/>
                </a:solidFill>
                <a:latin typeface="Aptos"/>
                <a:ea typeface="Aptos"/>
                <a:cs typeface="Aptos"/>
              </a:rPr>
              <a:t>AGENT ROLES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E51520D-8E67-4E7A-A3F4-29D6C7AE6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5591175"/>
            <a:ext cx="17145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BBF24">
              <a:alpha val="13333"/>
            </a:srgbClr>
          </a:solidFill>
          <a:ln xmlns:a="http://schemas.openxmlformats.org/drawingml/2006/main" w="9525">
            <a:solidFill>
              <a:srgbClr val="FBBF24">
                <a:alpha val="53333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F710CCE-0E74-4676-A875-36F7C55E7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5610225"/>
            <a:ext cx="1524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BBF24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BBF24"/>
                </a:solidFill>
                <a:latin typeface="Aptos"/>
                <a:ea typeface="Aptos"/>
                <a:cs typeface="Aptos"/>
              </a:rPr>
              <a:t>DECISION GATE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FBF1461-BEC8-4A36-98D5-9A64E2C9C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5591175"/>
            <a:ext cx="17145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34D399">
              <a:alpha val="13333"/>
            </a:srgbClr>
          </a:solidFill>
          <a:ln xmlns:a="http://schemas.openxmlformats.org/drawingml/2006/main" w="9525">
            <a:solidFill>
              <a:srgbClr val="34D399">
                <a:alpha val="53333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0614FF4-E4A6-466F-8E47-B70FD97E6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5610225"/>
            <a:ext cx="1524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34D399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34D399"/>
                </a:solidFill>
                <a:latin typeface="Aptos"/>
                <a:ea typeface="Aptos"/>
                <a:cs typeface="Aptos"/>
              </a:rPr>
              <a:t>AUDIT OUTPUT</a:t>
            </a:r>
          </a:p>
        </p:txBody>
      </p:sp>
    </p:spTree>
    <p:extLst>
      <p:ext uri="{BB962C8B-B14F-4D97-AF65-F5344CB8AC3E}">
        <p14:creationId xmlns:p14="http://schemas.microsoft.com/office/powerpoint/2010/main" val="75695370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6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37450EB-C537-4646-ABC2-D6E84D9BB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BF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5-marker">
            <a:extLst xmlns:a="http://schemas.openxmlformats.org/drawingml/2006/main">
              <a:ext uri="{FF2B5EF4-FFF2-40B4-BE49-F238E27FC236}">
                <a16:creationId xmlns:a16="http://schemas.microsoft.com/office/drawing/2014/main" id="{CF218FCF-E1DB-4FF2-A6A3-9ACF45762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81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BF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5-label">
            <a:extLst xmlns:a="http://schemas.openxmlformats.org/drawingml/2006/main">
              <a:ext uri="{FF2B5EF4-FFF2-40B4-BE49-F238E27FC236}">
                <a16:creationId xmlns:a16="http://schemas.microsoft.com/office/drawing/2014/main" id="{945235BE-7CCB-43E6-97B1-B3406BFB3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495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BBF24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BBF24"/>
                </a:solidFill>
                <a:latin typeface="Aptos"/>
                <a:ea typeface="Aptos"/>
                <a:cs typeface="Aptos"/>
              </a:rPr>
              <a:t>THE WINNING CONTROL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D21FC6-FB72-405F-8838-8D3CCF26E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1049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E8F0FF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E8F0FF"/>
                </a:solidFill>
                <a:latin typeface="Aptos Display"/>
                <a:ea typeface="Aptos Display"/>
                <a:cs typeface="Aptos Display"/>
              </a:rPr>
              <a:t>Disagreement is a control—not a failure.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84F1EA-B2C1-4E61-B3C8-2B84B0065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B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459527-0575-476A-A42D-8D7CEFC2B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91A4B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91A4BF"/>
                </a:solidFill>
                <a:latin typeface="Aptos"/>
                <a:ea typeface="Aptos"/>
                <a:cs typeface="Aptos"/>
              </a:rPr>
              <a:t>SENTINEL RELAY  /  BAND OF AGENTS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E9EDB9-AD17-4F94-B15F-F538D601B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609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91A4B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91A4BF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2BD984-A132-4C30-A8D8-F901C571E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19250"/>
            <a:ext cx="4953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91A4B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91A4BF"/>
                </a:solidFill>
                <a:latin typeface="Aptos"/>
                <a:ea typeface="Aptos"/>
                <a:cs typeface="Aptos"/>
              </a:rPr>
              <a:t>Risk &amp; Compliance limits the conclusion before authority unlocks action.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891ab2ac8d4858"/>
          <a:srcRect xmlns:a="http://schemas.openxmlformats.org/drawingml/2006/main" l="5156" t="0" r="515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0" y="1619250"/>
            <a:ext cx="5467350" cy="38100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5EE7BC-8AB4-4588-81C1-35D9F9B58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19250"/>
            <a:ext cx="5467350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FBBF24">
                <a:alpha val="40000"/>
              </a:srgbClr>
            </a:solidFill>
            <a:prstDash val="solid"/>
          </a:ln>
        </p:spPr>
      </p:sp>
      <p:sp>
        <p:nvSpPr>
          <p:cNvPr id="11" name="challenge">
            <a:extLst xmlns:a="http://schemas.openxmlformats.org/drawingml/2006/main">
              <a:ext uri="{FF2B5EF4-FFF2-40B4-BE49-F238E27FC236}">
                <a16:creationId xmlns:a16="http://schemas.microsoft.com/office/drawing/2014/main" id="{3AE39BE1-23FD-4A5E-BCD7-CD07E806B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81250"/>
            <a:ext cx="47625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0B1A2E"/>
          </a:solidFill>
          <a:ln xmlns:a="http://schemas.openxmlformats.org/drawingml/2006/main" w="9525">
            <a:solidFill>
              <a:srgbClr val="233B5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64F92E-215E-46F8-A17C-C067194A1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81250"/>
            <a:ext cx="4762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718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686C93-5098-431B-B95D-4105A9B20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33650"/>
            <a:ext cx="4438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8F0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E8F0FF"/>
                </a:solidFill>
                <a:latin typeface="Aptos"/>
                <a:ea typeface="Aptos"/>
                <a:cs typeface="Aptos"/>
              </a:rPr>
              <a:t>1  Challenge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5055C9-9704-4158-B0FA-3D861517A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57500"/>
            <a:ext cx="44386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1A4B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1A4BF"/>
                </a:solidFill>
                <a:latin typeface="Aptos"/>
                <a:ea typeface="Aptos"/>
                <a:cs typeface="Aptos"/>
              </a:rPr>
              <a:t>Unauthorized access is proven; downstream exfiltration is not.</a:t>
            </a:r>
          </a:p>
        </p:txBody>
      </p:sp>
      <p:sp>
        <p:nvSpPr>
          <p:cNvPr id="15" name="gate">
            <a:extLst xmlns:a="http://schemas.openxmlformats.org/drawingml/2006/main">
              <a:ext uri="{FF2B5EF4-FFF2-40B4-BE49-F238E27FC236}">
                <a16:creationId xmlns:a16="http://schemas.microsoft.com/office/drawing/2014/main" id="{38186A9C-84B4-4AD7-9C2F-0AE22EF91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81400"/>
            <a:ext cx="47625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0B1A2E"/>
          </a:solidFill>
          <a:ln xmlns:a="http://schemas.openxmlformats.org/drawingml/2006/main" w="9525">
            <a:solidFill>
              <a:srgbClr val="233B5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7357E6-767F-4B09-ACB8-9C2F4A35F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81400"/>
            <a:ext cx="4762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BF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59B7F87-32DE-450F-8CE7-5C3DD8B36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33800"/>
            <a:ext cx="4438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8F0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E8F0FF"/>
                </a:solidFill>
                <a:latin typeface="Aptos"/>
                <a:ea typeface="Aptos"/>
                <a:cs typeface="Aptos"/>
              </a:rPr>
              <a:t>2  Human gate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072D1FE-CCD1-49F0-B4BD-675627BA3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57650"/>
            <a:ext cx="44386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1A4B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1A4BF"/>
                </a:solidFill>
                <a:latin typeface="Aptos"/>
                <a:ea typeface="Aptos"/>
                <a:cs typeface="Aptos"/>
              </a:rPr>
              <a:t>Containment remains blocked until a Security Lead decides.</a:t>
            </a:r>
          </a:p>
        </p:txBody>
      </p:sp>
      <p:sp>
        <p:nvSpPr>
          <p:cNvPr id="19" name="action">
            <a:extLst xmlns:a="http://schemas.openxmlformats.org/drawingml/2006/main">
              <a:ext uri="{FF2B5EF4-FFF2-40B4-BE49-F238E27FC236}">
                <a16:creationId xmlns:a16="http://schemas.microsoft.com/office/drawing/2014/main" id="{B1D17EA7-A531-483A-811D-7B9E993A1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81550"/>
            <a:ext cx="47625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0B1A2E"/>
          </a:solidFill>
          <a:ln xmlns:a="http://schemas.openxmlformats.org/drawingml/2006/main" w="9525">
            <a:solidFill>
              <a:srgbClr val="233B59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0AB2216-C57D-4A40-B187-48F1D5014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81550"/>
            <a:ext cx="4762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F3265C8-AED3-41E0-BDFF-2842FC2A8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33950"/>
            <a:ext cx="4438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8F0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E8F0FF"/>
                </a:solidFill>
                <a:latin typeface="Aptos"/>
                <a:ea typeface="Aptos"/>
                <a:cs typeface="Aptos"/>
              </a:rPr>
              <a:t>3  Constrained action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E9FAEF5-9078-4DA6-A5D7-B47C71B6F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57800"/>
            <a:ext cx="44386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1A4B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1A4BF"/>
                </a:solidFill>
                <a:latin typeface="Aptos"/>
                <a:ea typeface="Aptos"/>
                <a:cs typeface="Aptos"/>
              </a:rPr>
              <a:t>Revoke and rotate now; hold customer notification pending scope.</a:t>
            </a:r>
          </a:p>
        </p:txBody>
      </p:sp>
      <p:cxnSp>
        <p:nvCxnSpPr>
          <p:cNvPr id="23" name=""/>
          <p:cNvCxnSpPr>
            <a:stCxn xmlns:a="http://schemas.openxmlformats.org/drawingml/2006/main" id="11" idx="2"/>
            <a:endCxn xmlns:a="http://schemas.openxmlformats.org/drawingml/2006/main" id="15" idx="0"/>
          </p:cNvCxnSpPr>
          <p:nvPr/>
        </p:nvCxnSpPr>
        <p:spPr>
          <a:xfrm xmlns:a="http://schemas.openxmlformats.org/drawingml/2006/main">
            <a:off x="2933700" y="3371850"/>
            <a:ext cx="0" cy="2095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BBF24"/>
            </a:solidFill>
            <a:prstDash val="solid"/>
          </a:ln>
        </p:spPr>
      </p:cxnSp>
      <p:cxnSp>
        <p:nvCxnSpPr>
          <p:cNvPr id="24" name=""/>
          <p:cNvCxnSpPr>
            <a:stCxn xmlns:a="http://schemas.openxmlformats.org/drawingml/2006/main" id="15" idx="2"/>
            <a:endCxn xmlns:a="http://schemas.openxmlformats.org/drawingml/2006/main" id="19" idx="0"/>
          </p:cNvCxnSpPr>
          <p:nvPr/>
        </p:nvCxnSpPr>
        <p:spPr>
          <a:xfrm xmlns:a="http://schemas.openxmlformats.org/drawingml/2006/main">
            <a:off x="2933700" y="4572000"/>
            <a:ext cx="0" cy="2095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4D399"/>
            </a:solidFill>
            <a:prstDash val="solid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4E47FF8-26BA-4822-ACB5-20D0B55B8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638800"/>
            <a:ext cx="5467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BBF24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BBF24"/>
                </a:solidFill>
                <a:latin typeface="Aptos"/>
                <a:ea typeface="Aptos"/>
                <a:cs typeface="Aptos"/>
              </a:rPr>
              <a:t>The system preserves dissent as structured coordination state.</a:t>
            </a:r>
          </a:p>
        </p:txBody>
      </p:sp>
    </p:spTree>
    <p:extLst>
      <p:ext uri="{BB962C8B-B14F-4D97-AF65-F5344CB8AC3E}">
        <p14:creationId xmlns:p14="http://schemas.microsoft.com/office/powerpoint/2010/main" val="173344580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6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DEE784D-7A0B-40D8-BBF3-739B01924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8B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6-marker">
            <a:extLst xmlns:a="http://schemas.openxmlformats.org/drawingml/2006/main">
              <a:ext uri="{FF2B5EF4-FFF2-40B4-BE49-F238E27FC236}">
                <a16:creationId xmlns:a16="http://schemas.microsoft.com/office/drawing/2014/main" id="{0FD9F9AF-0800-4832-B6EC-6326CD087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81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8B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6-label">
            <a:extLst xmlns:a="http://schemas.openxmlformats.org/drawingml/2006/main">
              <a:ext uri="{FF2B5EF4-FFF2-40B4-BE49-F238E27FC236}">
                <a16:creationId xmlns:a16="http://schemas.microsoft.com/office/drawing/2014/main" id="{E6E2103F-47D6-4C92-982C-A7AE88CA7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495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78BF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A78BFA"/>
                </a:solidFill>
                <a:latin typeface="Aptos"/>
                <a:ea typeface="Aptos"/>
                <a:cs typeface="Aptos"/>
              </a:rPr>
              <a:t>TECHNICAL ARCHITECTURE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A1D32F-FC5F-4AAD-9E53-80D4B954D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1049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E8F0FF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>
                <a:solidFill>
                  <a:srgbClr val="E8F0FF"/>
                </a:solidFill>
                <a:latin typeface="Aptos Display"/>
                <a:ea typeface="Aptos Display"/>
                <a:cs typeface="Aptos Display"/>
              </a:rPr>
              <a:t>Every visible action maps to a concrete system boundary.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1A8CD1-07A2-450C-A008-49C74A724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B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3A2FCF-4E5B-4DA3-9D23-86881370B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91A4B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91A4BF"/>
                </a:solidFill>
                <a:latin typeface="Aptos"/>
                <a:ea typeface="Aptos"/>
                <a:cs typeface="Aptos"/>
              </a:rPr>
              <a:t>SENTINEL RELAY  /  BAND OF AGENTS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F6A709-814D-4438-AFB7-2725913F4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609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91A4B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91A4BF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8" name="ui">
            <a:extLst xmlns:a="http://schemas.openxmlformats.org/drawingml/2006/main">
              <a:ext uri="{FF2B5EF4-FFF2-40B4-BE49-F238E27FC236}">
                <a16:creationId xmlns:a16="http://schemas.microsoft.com/office/drawing/2014/main" id="{E2670995-469A-4ED7-9B6F-7CCFD833F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05000"/>
            <a:ext cx="2095500" cy="1276350"/>
          </a:xfrm>
          <a:prstGeom xmlns:a="http://schemas.openxmlformats.org/drawingml/2006/main" prst="roundRect">
            <a:avLst>
              <a:gd name="adj" fmla="val 5970"/>
            </a:avLst>
          </a:prstGeom>
          <a:solidFill xmlns:a="http://schemas.openxmlformats.org/drawingml/2006/main">
            <a:srgbClr val="0B1A2E"/>
          </a:solidFill>
          <a:ln xmlns:a="http://schemas.openxmlformats.org/drawingml/2006/main" w="9525">
            <a:solidFill>
              <a:srgbClr val="233B5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89BF69-BFDE-4B3E-9763-459CCE760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05000"/>
            <a:ext cx="47625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3C8DFA-9A33-4267-A680-2BFB5B147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57400"/>
            <a:ext cx="1771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8F0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E8F0FF"/>
                </a:solidFill>
                <a:latin typeface="Aptos"/>
                <a:ea typeface="Aptos"/>
                <a:cs typeface="Aptos"/>
              </a:rPr>
              <a:t>Next.js War Room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A80680-7571-4644-A224-D841971F5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81250"/>
            <a:ext cx="17716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1A4B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1A4BF"/>
                </a:solidFill>
                <a:latin typeface="Aptos"/>
                <a:ea typeface="Aptos"/>
                <a:cs typeface="Aptos"/>
              </a:rPr>
              <a:t>Typed UI state</a:t>
            </a:r>
          </a:p>
          <a:p xmlns:a="http://schemas.openxmlformats.org/drawingml/2006/main">
            <a:pPr algn="l">
              <a:defRPr sz="975" b="0">
                <a:solidFill>
                  <a:srgbClr val="91A4B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1A4BF"/>
                </a:solidFill>
                <a:latin typeface="Aptos"/>
                <a:ea typeface="Aptos"/>
                <a:cs typeface="Aptos"/>
              </a:rPr>
              <a:t>SSE updates</a:t>
            </a:r>
          </a:p>
          <a:p xmlns:a="http://schemas.openxmlformats.org/drawingml/2006/main">
            <a:pPr algn="l">
              <a:defRPr sz="975" b="0">
                <a:solidFill>
                  <a:srgbClr val="91A4B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1A4BF"/>
                </a:solidFill>
                <a:latin typeface="Aptos"/>
                <a:ea typeface="Aptos"/>
                <a:cs typeface="Aptos"/>
              </a:rPr>
              <a:t>Approval controls</a:t>
            </a:r>
          </a:p>
        </p:txBody>
      </p:sp>
      <p:sp>
        <p:nvSpPr>
          <p:cNvPr id="12" name="api">
            <a:extLst xmlns:a="http://schemas.openxmlformats.org/drawingml/2006/main">
              <a:ext uri="{FF2B5EF4-FFF2-40B4-BE49-F238E27FC236}">
                <a16:creationId xmlns:a16="http://schemas.microsoft.com/office/drawing/2014/main" id="{96FF1488-76A2-451E-9AA8-6AA7E7AD2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905000"/>
            <a:ext cx="2381250" cy="1276350"/>
          </a:xfrm>
          <a:prstGeom xmlns:a="http://schemas.openxmlformats.org/drawingml/2006/main" prst="roundRect">
            <a:avLst>
              <a:gd name="adj" fmla="val 5970"/>
            </a:avLst>
          </a:prstGeom>
          <a:solidFill xmlns:a="http://schemas.openxmlformats.org/drawingml/2006/main">
            <a:srgbClr val="0B1A2E"/>
          </a:solidFill>
          <a:ln xmlns:a="http://schemas.openxmlformats.org/drawingml/2006/main" w="9525">
            <a:solidFill>
              <a:srgbClr val="233B5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A48883-DF3A-4C5E-812D-72704C845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905000"/>
            <a:ext cx="47625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9012DC-FAC1-44C1-B9F3-4BFB5AF4E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057400"/>
            <a:ext cx="2057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8F0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E8F0FF"/>
                </a:solidFill>
                <a:latin typeface="Aptos"/>
                <a:ea typeface="Aptos"/>
                <a:cs typeface="Aptos"/>
              </a:rPr>
              <a:t>/api/collaboration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C796FB-DA99-4C89-8FF2-759D80D64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381250"/>
            <a:ext cx="20574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1A4B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1A4BF"/>
                </a:solidFill>
                <a:latin typeface="Aptos"/>
                <a:ea typeface="Aptos"/>
                <a:cs typeface="Aptos"/>
              </a:rPr>
              <a:t>Server-side secrets</a:t>
            </a:r>
          </a:p>
          <a:p xmlns:a="http://schemas.openxmlformats.org/drawingml/2006/main">
            <a:pPr algn="l">
              <a:defRPr sz="975" b="0">
                <a:solidFill>
                  <a:srgbClr val="91A4B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1A4BF"/>
                </a:solidFill>
                <a:latin typeface="Aptos"/>
                <a:ea typeface="Aptos"/>
                <a:cs typeface="Aptos"/>
              </a:rPr>
              <a:t>Room + message routes</a:t>
            </a:r>
          </a:p>
          <a:p xmlns:a="http://schemas.openxmlformats.org/drawingml/2006/main">
            <a:pPr algn="l">
              <a:defRPr sz="975" b="0">
                <a:solidFill>
                  <a:srgbClr val="91A4B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1A4BF"/>
                </a:solidFill>
                <a:latin typeface="Aptos"/>
                <a:ea typeface="Aptos"/>
                <a:cs typeface="Aptos"/>
              </a:rPr>
              <a:t>Local mirror</a:t>
            </a:r>
          </a:p>
        </p:txBody>
      </p:sp>
      <p:sp>
        <p:nvSpPr>
          <p:cNvPr id="16" name="band">
            <a:extLst xmlns:a="http://schemas.openxmlformats.org/drawingml/2006/main">
              <a:ext uri="{FF2B5EF4-FFF2-40B4-BE49-F238E27FC236}">
                <a16:creationId xmlns:a16="http://schemas.microsoft.com/office/drawing/2014/main" id="{6CBE9629-3EFA-4C55-A18E-BB323814C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905000"/>
            <a:ext cx="2381250" cy="1276350"/>
          </a:xfrm>
          <a:prstGeom xmlns:a="http://schemas.openxmlformats.org/drawingml/2006/main" prst="roundRect">
            <a:avLst>
              <a:gd name="adj" fmla="val 5970"/>
            </a:avLst>
          </a:prstGeom>
          <a:solidFill xmlns:a="http://schemas.openxmlformats.org/drawingml/2006/main">
            <a:srgbClr val="0B1A2E"/>
          </a:solidFill>
          <a:ln xmlns:a="http://schemas.openxmlformats.org/drawingml/2006/main" w="9525">
            <a:solidFill>
              <a:srgbClr val="233B5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A45A5B-001C-4A73-A085-A90BF28C1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905000"/>
            <a:ext cx="47625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8B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134F623-30B5-41DF-8164-5FF03A35B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57400"/>
            <a:ext cx="2057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8F0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E8F0FF"/>
                </a:solidFill>
                <a:latin typeface="Aptos"/>
                <a:ea typeface="Aptos"/>
                <a:cs typeface="Aptos"/>
              </a:rPr>
              <a:t>Band room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6A0C631-2E80-4A6C-AF07-6E204ABF2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81250"/>
            <a:ext cx="20574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1A4B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1A4BF"/>
                </a:solidFill>
                <a:latin typeface="Aptos"/>
                <a:ea typeface="Aptos"/>
                <a:cs typeface="Aptos"/>
              </a:rPr>
              <a:t>Identity</a:t>
            </a:r>
          </a:p>
          <a:p xmlns:a="http://schemas.openxmlformats.org/drawingml/2006/main">
            <a:pPr algn="l">
              <a:defRPr sz="975" b="0">
                <a:solidFill>
                  <a:srgbClr val="91A4B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1A4BF"/>
                </a:solidFill>
                <a:latin typeface="Aptos"/>
                <a:ea typeface="Aptos"/>
                <a:cs typeface="Aptos"/>
              </a:rPr>
              <a:t>Routing</a:t>
            </a:r>
          </a:p>
          <a:p xmlns:a="http://schemas.openxmlformats.org/drawingml/2006/main">
            <a:pPr algn="l">
              <a:defRPr sz="975" b="0">
                <a:solidFill>
                  <a:srgbClr val="91A4B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1A4BF"/>
                </a:solidFill>
                <a:latin typeface="Aptos"/>
                <a:ea typeface="Aptos"/>
                <a:cs typeface="Aptos"/>
              </a:rPr>
              <a:t>Shared context</a:t>
            </a:r>
          </a:p>
          <a:p xmlns:a="http://schemas.openxmlformats.org/drawingml/2006/main">
            <a:pPr algn="l">
              <a:defRPr sz="975" b="0">
                <a:solidFill>
                  <a:srgbClr val="91A4B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1A4BF"/>
                </a:solidFill>
                <a:latin typeface="Aptos"/>
                <a:ea typeface="Aptos"/>
                <a:cs typeface="Aptos"/>
              </a:rPr>
              <a:t>Approval events</a:t>
            </a:r>
          </a:p>
        </p:txBody>
      </p:sp>
      <p:sp>
        <p:nvSpPr>
          <p:cNvPr id="20" name="workers">
            <a:extLst xmlns:a="http://schemas.openxmlformats.org/drawingml/2006/main">
              <a:ext uri="{FF2B5EF4-FFF2-40B4-BE49-F238E27FC236}">
                <a16:creationId xmlns:a16="http://schemas.microsoft.com/office/drawing/2014/main" id="{32F2569A-AA67-4DE0-ACAC-306940988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1905000"/>
            <a:ext cx="2609850" cy="1276350"/>
          </a:xfrm>
          <a:prstGeom xmlns:a="http://schemas.openxmlformats.org/drawingml/2006/main" prst="roundRect">
            <a:avLst>
              <a:gd name="adj" fmla="val 5970"/>
            </a:avLst>
          </a:prstGeom>
          <a:solidFill xmlns:a="http://schemas.openxmlformats.org/drawingml/2006/main">
            <a:srgbClr val="0B1A2E"/>
          </a:solidFill>
          <a:ln xmlns:a="http://schemas.openxmlformats.org/drawingml/2006/main" w="9525">
            <a:solidFill>
              <a:srgbClr val="233B59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6715D63-48D7-43E0-8B00-7DD35DC6F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1905000"/>
            <a:ext cx="47625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8B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6C04DEE-40CD-4950-8BAF-59126EA62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57400"/>
            <a:ext cx="228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8F0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E8F0FF"/>
                </a:solidFill>
                <a:latin typeface="Aptos"/>
                <a:ea typeface="Aptos"/>
                <a:cs typeface="Aptos"/>
              </a:rPr>
              <a:t>Python agent workers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D1C8F65-FBF4-48C9-8D6C-0BBE5FDD1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381250"/>
            <a:ext cx="2286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1A4B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1A4BF"/>
                </a:solidFill>
                <a:latin typeface="Aptos"/>
                <a:ea typeface="Aptos"/>
                <a:cs typeface="Aptos"/>
              </a:rPr>
              <a:t>handle_turn(ctx)</a:t>
            </a:r>
          </a:p>
          <a:p xmlns:a="http://schemas.openxmlformats.org/drawingml/2006/main">
            <a:pPr algn="l">
              <a:defRPr sz="975" b="0">
                <a:solidFill>
                  <a:srgbClr val="91A4B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1A4BF"/>
                </a:solidFill>
                <a:latin typeface="Aptos"/>
                <a:ea typeface="Aptos"/>
                <a:cs typeface="Aptos"/>
              </a:rPr>
              <a:t>Schema validation</a:t>
            </a:r>
          </a:p>
          <a:p xmlns:a="http://schemas.openxmlformats.org/drawingml/2006/main">
            <a:pPr algn="l">
              <a:defRPr sz="975" b="0">
                <a:solidFill>
                  <a:srgbClr val="91A4B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1A4BF"/>
                </a:solidFill>
                <a:latin typeface="Aptos"/>
                <a:ea typeface="Aptos"/>
                <a:cs typeface="Aptos"/>
              </a:rPr>
              <a:t>Bounded retry</a:t>
            </a:r>
          </a:p>
        </p:txBody>
      </p:sp>
      <p:sp>
        <p:nvSpPr>
          <p:cNvPr id="24" name="evidence">
            <a:extLst xmlns:a="http://schemas.openxmlformats.org/drawingml/2006/main">
              <a:ext uri="{FF2B5EF4-FFF2-40B4-BE49-F238E27FC236}">
                <a16:creationId xmlns:a16="http://schemas.microsoft.com/office/drawing/2014/main" id="{F011DECD-84A3-4F7A-8101-787C38C0B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95750"/>
            <a:ext cx="23812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0B1A2E"/>
          </a:solidFill>
          <a:ln xmlns:a="http://schemas.openxmlformats.org/drawingml/2006/main" w="9525">
            <a:solidFill>
              <a:srgbClr val="233B59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89D26F6-278E-438C-BEE2-34EB00D1A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95750"/>
            <a:ext cx="476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A4B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5765A47-61C7-4565-A215-73783BD01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48150"/>
            <a:ext cx="2057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8F0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E8F0FF"/>
                </a:solidFill>
                <a:latin typeface="Aptos"/>
                <a:ea typeface="Aptos"/>
                <a:cs typeface="Aptos"/>
              </a:rPr>
              <a:t>Evidence packets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A27997B-26B4-457D-8A4B-9C0EA7F86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0"/>
            <a:ext cx="20574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1A4B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1A4BF"/>
                </a:solidFill>
                <a:latin typeface="Aptos"/>
                <a:ea typeface="Aptos"/>
                <a:cs typeface="Aptos"/>
              </a:rPr>
              <a:t>API, auth, cloud, code, policy</a:t>
            </a:r>
          </a:p>
        </p:txBody>
      </p:sp>
      <p:sp>
        <p:nvSpPr>
          <p:cNvPr id="28" name="aiml">
            <a:extLst xmlns:a="http://schemas.openxmlformats.org/drawingml/2006/main">
              <a:ext uri="{FF2B5EF4-FFF2-40B4-BE49-F238E27FC236}">
                <a16:creationId xmlns:a16="http://schemas.microsoft.com/office/drawing/2014/main" id="{38CAB8EF-8EC6-4D2B-A921-D809D48F3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095750"/>
            <a:ext cx="23812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0B1A2E"/>
          </a:solidFill>
          <a:ln xmlns:a="http://schemas.openxmlformats.org/drawingml/2006/main" w="9525">
            <a:solidFill>
              <a:srgbClr val="233B59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1BFA113-8FF2-4D3A-80DC-3E6B302D7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095750"/>
            <a:ext cx="476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8B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5681161-2BEA-4256-99CF-0874551E9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248150"/>
            <a:ext cx="2057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8F0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E8F0FF"/>
                </a:solidFill>
                <a:latin typeface="Aptos"/>
                <a:ea typeface="Aptos"/>
                <a:cs typeface="Aptos"/>
              </a:rPr>
              <a:t>AI/ML API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3D13CE3-3A25-4720-B949-F3C0D5B7C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572000"/>
            <a:ext cx="20574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1A4B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1A4BF"/>
                </a:solidFill>
                <a:latin typeface="Aptos"/>
                <a:ea typeface="Aptos"/>
                <a:cs typeface="Aptos"/>
              </a:rPr>
              <a:t>Risk policy gate</a:t>
            </a:r>
          </a:p>
          <a:p xmlns:a="http://schemas.openxmlformats.org/drawingml/2006/main">
            <a:pPr algn="l">
              <a:defRPr sz="975" b="0">
                <a:solidFill>
                  <a:srgbClr val="91A4B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1A4BF"/>
                </a:solidFill>
                <a:latin typeface="Aptos"/>
                <a:ea typeface="Aptos"/>
                <a:cs typeface="Aptos"/>
              </a:rPr>
              <a:t>Band Leader synthesis</a:t>
            </a:r>
          </a:p>
        </p:txBody>
      </p:sp>
      <p:sp>
        <p:nvSpPr>
          <p:cNvPr id="32" name="report">
            <a:extLst xmlns:a="http://schemas.openxmlformats.org/drawingml/2006/main">
              <a:ext uri="{FF2B5EF4-FFF2-40B4-BE49-F238E27FC236}">
                <a16:creationId xmlns:a16="http://schemas.microsoft.com/office/drawing/2014/main" id="{7C37F80D-54FC-4726-8D4D-58E07E2D5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095750"/>
            <a:ext cx="23812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0B1A2E"/>
          </a:solidFill>
          <a:ln xmlns:a="http://schemas.openxmlformats.org/drawingml/2006/main" w="9525">
            <a:solidFill>
              <a:srgbClr val="233B59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B726DA1-E8CF-42A3-A1A7-F4DA9B1E7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095750"/>
            <a:ext cx="476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FCF47CB-7AD1-4D55-9DA4-EAE14BF8A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248150"/>
            <a:ext cx="2057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8F0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E8F0FF"/>
                </a:solidFill>
                <a:latin typeface="Aptos"/>
                <a:ea typeface="Aptos"/>
                <a:cs typeface="Aptos"/>
              </a:rPr>
              <a:t>Audit report model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D137C65-EF1B-4201-86FE-D9B48BED2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572000"/>
            <a:ext cx="20574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1A4B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1A4BF"/>
                </a:solidFill>
                <a:latin typeface="Aptos"/>
                <a:ea typeface="Aptos"/>
                <a:cs typeface="Aptos"/>
              </a:rPr>
              <a:t>Messages + evidence + approval + tasks</a:t>
            </a:r>
          </a:p>
        </p:txBody>
      </p:sp>
      <p:sp>
        <p:nvSpPr>
          <p:cNvPr id="36" name="replay">
            <a:extLst xmlns:a="http://schemas.openxmlformats.org/drawingml/2006/main">
              <a:ext uri="{FF2B5EF4-FFF2-40B4-BE49-F238E27FC236}">
                <a16:creationId xmlns:a16="http://schemas.microsoft.com/office/drawing/2014/main" id="{1E1326B3-6A61-456B-9FD1-6DC828AF8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4095750"/>
            <a:ext cx="19240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0B1A2E"/>
          </a:solidFill>
          <a:ln xmlns:a="http://schemas.openxmlformats.org/drawingml/2006/main" w="9525">
            <a:solidFill>
              <a:srgbClr val="233B59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529826D-35D9-4372-8890-B9BB7550B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4095750"/>
            <a:ext cx="476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05DEDAA-6270-4FE1-89A0-0B66F7C79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248150"/>
            <a:ext cx="1600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8F0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E8F0FF"/>
                </a:solidFill>
                <a:latin typeface="Aptos"/>
                <a:ea typeface="Aptos"/>
                <a:cs typeface="Aptos"/>
              </a:rPr>
              <a:t>Replay mode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3F2E72D-9D06-4164-BAE6-F3335B940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572000"/>
            <a:ext cx="1600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1A4B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1A4BF"/>
                </a:solidFill>
                <a:latin typeface="Aptos"/>
                <a:ea typeface="Aptos"/>
                <a:cs typeface="Aptos"/>
              </a:rPr>
              <a:t>Stable judge path</a:t>
            </a:r>
          </a:p>
        </p:txBody>
      </p:sp>
      <p:cxnSp>
        <p:nvCxnSpPr>
          <p:cNvPr id="40" name=""/>
          <p:cNvCxnSpPr>
            <a:stCxn xmlns:a="http://schemas.openxmlformats.org/drawingml/2006/main" id="8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2647950" y="2543175"/>
            <a:ext cx="495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8BDF8"/>
            </a:solidFill>
            <a:prstDash val="solid"/>
          </a:ln>
        </p:spPr>
      </p:cxnSp>
      <p:cxnSp>
        <p:nvCxnSpPr>
          <p:cNvPr id="41" name=""/>
          <p:cNvCxnSpPr>
            <a:stCxn xmlns:a="http://schemas.openxmlformats.org/drawingml/2006/main" id="12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5524500" y="2543175"/>
            <a:ext cx="495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8BDF8"/>
            </a:solidFill>
            <a:prstDash val="solid"/>
          </a:ln>
        </p:spPr>
      </p:cxnSp>
      <p:cxnSp>
        <p:nvCxnSpPr>
          <p:cNvPr id="42" name=""/>
          <p:cNvCxnSpPr>
            <a:stCxn xmlns:a="http://schemas.openxmlformats.org/drawingml/2006/main" id="16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8401050" y="2543175"/>
            <a:ext cx="495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78BFA"/>
            </a:solidFill>
            <a:prstDash val="solid"/>
          </a:ln>
        </p:spPr>
      </p:cxnSp>
      <p:cxnSp>
        <p:nvCxnSpPr>
          <p:cNvPr id="43" name=""/>
          <p:cNvCxnSpPr>
            <a:stCxn xmlns:a="http://schemas.openxmlformats.org/drawingml/2006/main" id="24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 flipV="1">
            <a:off x="2933700" y="2543175"/>
            <a:ext cx="5962650" cy="2114550"/>
          </a:xfrm>
          <a:prstGeom xmlns:a="http://schemas.openxmlformats.org/drawingml/2006/main" prst="bentConnector5">
            <a:avLst>
              <a:gd name="adj1" fmla="val 3834"/>
              <a:gd name="adj2" fmla="val 64414"/>
              <a:gd name="adj3" fmla="val 96166"/>
            </a:avLst>
          </a:prstGeom>
          <a:ln xmlns:a="http://schemas.openxmlformats.org/drawingml/2006/main" w="19050">
            <a:solidFill>
              <a:srgbClr val="91A4BF"/>
            </a:solidFill>
            <a:prstDash val="solid"/>
          </a:ln>
        </p:spPr>
      </p:cxnSp>
      <p:cxnSp>
        <p:nvCxnSpPr>
          <p:cNvPr id="44" name=""/>
          <p:cNvCxnSpPr>
            <a:stCxn xmlns:a="http://schemas.openxmlformats.org/drawingml/2006/main" id="20" idx="3"/>
            <a:endCxn xmlns:a="http://schemas.openxmlformats.org/drawingml/2006/main" id="28" idx="1"/>
          </p:cNvCxnSpPr>
          <p:nvPr/>
        </p:nvCxnSpPr>
        <p:spPr>
          <a:xfrm xmlns:a="http://schemas.openxmlformats.org/drawingml/2006/main" flipH="1">
            <a:off x="3333750" y="2543175"/>
            <a:ext cx="8401050" cy="2114550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A78BFA"/>
            </a:solidFill>
            <a:prstDash val="solid"/>
          </a:ln>
        </p:spPr>
      </p:cxnSp>
      <p:cxnSp>
        <p:nvCxnSpPr>
          <p:cNvPr id="45" name=""/>
          <p:cNvCxnSpPr>
            <a:stCxn xmlns:a="http://schemas.openxmlformats.org/drawingml/2006/main" id="16" idx="3"/>
            <a:endCxn xmlns:a="http://schemas.openxmlformats.org/drawingml/2006/main" id="32" idx="1"/>
          </p:cNvCxnSpPr>
          <p:nvPr/>
        </p:nvCxnSpPr>
        <p:spPr>
          <a:xfrm xmlns:a="http://schemas.openxmlformats.org/drawingml/2006/main" flipH="1">
            <a:off x="6343650" y="2543175"/>
            <a:ext cx="2286000" cy="2114550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34D399"/>
            </a:solidFill>
            <a:prstDash val="solid"/>
          </a:ln>
        </p:spPr>
      </p:cxnSp>
      <p:cxnSp>
        <p:nvCxnSpPr>
          <p:cNvPr id="46" name=""/>
          <p:cNvCxnSpPr>
            <a:stCxn xmlns:a="http://schemas.openxmlformats.org/drawingml/2006/main" id="32" idx="3"/>
            <a:endCxn xmlns:a="http://schemas.openxmlformats.org/drawingml/2006/main" id="36" idx="1"/>
          </p:cNvCxnSpPr>
          <p:nvPr/>
        </p:nvCxnSpPr>
        <p:spPr>
          <a:xfrm xmlns:a="http://schemas.openxmlformats.org/drawingml/2006/main">
            <a:off x="8953500" y="4657725"/>
            <a:ext cx="628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4D399"/>
            </a:solidFill>
            <a:prstDash val="solid"/>
          </a:ln>
        </p:spPr>
      </p:cxn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BBF1608-C81D-4D78-A253-FADA24251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34050"/>
            <a:ext cx="10934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E8F0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E8F0FF"/>
                </a:solidFill>
                <a:latin typeface="Aptos"/>
                <a:ea typeface="Aptos"/>
                <a:cs typeface="Aptos"/>
              </a:rPr>
              <a:t>One message contract connects live Band, deterministic replay, the UI, and the final audit artifact.</a:t>
            </a:r>
          </a:p>
        </p:txBody>
      </p:sp>
    </p:spTree>
    <p:extLst>
      <p:ext uri="{BB962C8B-B14F-4D97-AF65-F5344CB8AC3E}">
        <p14:creationId xmlns:p14="http://schemas.microsoft.com/office/powerpoint/2010/main" val="166413934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6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E07E47A-4896-4FA1-A49C-F67C28F07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7-marker">
            <a:extLst xmlns:a="http://schemas.openxmlformats.org/drawingml/2006/main">
              <a:ext uri="{FF2B5EF4-FFF2-40B4-BE49-F238E27FC236}">
                <a16:creationId xmlns:a16="http://schemas.microsoft.com/office/drawing/2014/main" id="{DB02D36A-6999-44F0-8ABD-D66E8686F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81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7-label">
            <a:extLst xmlns:a="http://schemas.openxmlformats.org/drawingml/2006/main">
              <a:ext uri="{FF2B5EF4-FFF2-40B4-BE49-F238E27FC236}">
                <a16:creationId xmlns:a16="http://schemas.microsoft.com/office/drawing/2014/main" id="{450973D8-7BB1-4080-B64D-FC56AEB08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495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4D39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4D399"/>
                </a:solidFill>
                <a:latin typeface="Aptos"/>
                <a:ea typeface="Aptos"/>
                <a:cs typeface="Aptos"/>
              </a:rPr>
              <a:t>RELIABILITY PROOF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373906-9263-481B-A07D-138F0BC4B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1049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E8F0FF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E8F0FF"/>
                </a:solidFill>
                <a:latin typeface="Aptos Display"/>
                <a:ea typeface="Aptos Display"/>
                <a:cs typeface="Aptos Display"/>
              </a:rPr>
              <a:t>Demo reliability is engineered—not hoped for.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0C59E1-5A0D-4568-A700-F6A2EF184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B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D22D4B-9EA7-4426-ADFA-108FC10BF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91A4B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91A4BF"/>
                </a:solidFill>
                <a:latin typeface="Aptos"/>
                <a:ea typeface="Aptos"/>
                <a:cs typeface="Aptos"/>
              </a:rPr>
              <a:t>SENTINEL RELAY  /  BAND OF AGENTS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2D3F72-6A8C-45BE-BA92-532BFF426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609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91A4B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91A4BF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873F27-395C-4825-BD36-D140BB0C6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19250"/>
            <a:ext cx="6191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91A4B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91A4BF"/>
                </a:solidFill>
                <a:latin typeface="Aptos"/>
                <a:ea typeface="Aptos"/>
                <a:cs typeface="Aptos"/>
              </a:rPr>
              <a:t>The submission path passes production build, schema, evidence, agent-quality, routing, and report checks.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2C2163-77ED-4BA4-A0F0-001441E3D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62200"/>
            <a:ext cx="209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34D399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34D399"/>
                </a:solidFill>
                <a:latin typeface="Aptos Display"/>
                <a:ea typeface="Aptos Display"/>
                <a:cs typeface="Aptos Display"/>
              </a:rPr>
              <a:t>18/18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976575-6AF9-4489-8885-3A7B06B26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62250"/>
            <a:ext cx="2095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1A4B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91A4BF"/>
                </a:solidFill>
                <a:latin typeface="Aptos"/>
                <a:ea typeface="Aptos"/>
                <a:cs typeface="Aptos"/>
              </a:rPr>
              <a:t>SCHEMA-VALID MESSAGES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B7F8C0-AC5B-44F3-8B6B-2821882D4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362200"/>
            <a:ext cx="1905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38BDF8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38BDF8"/>
                </a:solidFill>
                <a:latin typeface="Aptos Display"/>
                <a:ea typeface="Aptos Display"/>
                <a:cs typeface="Aptos Display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69FCC0-2E11-4292-AB21-E243AEBC8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762250"/>
            <a:ext cx="1905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1A4B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91A4BF"/>
                </a:solidFill>
                <a:latin typeface="Aptos"/>
                <a:ea typeface="Aptos"/>
                <a:cs typeface="Aptos"/>
              </a:rPr>
              <a:t>GENERALIZED INCIDENTS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AAD33A-A95B-4B5D-98F3-6C88E9DDD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362200"/>
            <a:ext cx="1905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34D399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34D399"/>
                </a:solidFill>
                <a:latin typeface="Aptos Display"/>
                <a:ea typeface="Aptos Display"/>
                <a:cs typeface="Aptos Display"/>
              </a:rPr>
              <a:t>5/5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AE794E-A824-43A0-B70F-2367E7F6F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762250"/>
            <a:ext cx="1905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1A4B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91A4BF"/>
                </a:solidFill>
                <a:latin typeface="Aptos"/>
                <a:ea typeface="Aptos"/>
                <a:cs typeface="Aptos"/>
              </a:rPr>
              <a:t>REPORT INTEGRITY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C010B0-0224-4B1D-9F19-DFEC2A0F4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362200"/>
            <a:ext cx="1905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38BDF8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38BDF8"/>
                </a:solidFill>
                <a:latin typeface="Aptos Display"/>
                <a:ea typeface="Aptos Display"/>
                <a:cs typeface="Aptos Display"/>
              </a:rPr>
              <a:t>Ready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721D8A-63B5-4CF0-87F0-612563CF7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762250"/>
            <a:ext cx="1905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1A4B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91A4BF"/>
                </a:solidFill>
                <a:latin typeface="Aptos"/>
                <a:ea typeface="Aptos"/>
                <a:cs typeface="Aptos"/>
              </a:rPr>
              <a:t>VERCEL PRODUCTION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2D4745C-113F-479D-A7C6-760891DD6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14750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B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40E3DA7-8A86-4964-BC36-B450E09BA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95750"/>
            <a:ext cx="16192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34D399">
              <a:alpha val="13333"/>
            </a:srgbClr>
          </a:solidFill>
          <a:ln xmlns:a="http://schemas.openxmlformats.org/drawingml/2006/main" w="9525">
            <a:solidFill>
              <a:srgbClr val="34D399">
                <a:alpha val="53333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957EA45-613D-4469-83AC-D8CCC22AB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14800"/>
            <a:ext cx="1428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34D399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34D399"/>
                </a:solidFill>
                <a:latin typeface="Aptos"/>
                <a:ea typeface="Aptos"/>
                <a:cs typeface="Aptos"/>
              </a:rPr>
              <a:t>✓  PRODUCTION BUILD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F042968-02FE-4B2A-9728-75126F59D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095750"/>
            <a:ext cx="15240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34D399">
              <a:alpha val="13333"/>
            </a:srgbClr>
          </a:solidFill>
          <a:ln xmlns:a="http://schemas.openxmlformats.org/drawingml/2006/main" w="9525">
            <a:solidFill>
              <a:srgbClr val="34D399">
                <a:alpha val="53333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A24CBCF-4B2D-47B6-8C79-03D87095B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114800"/>
            <a:ext cx="1333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34D399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34D399"/>
                </a:solidFill>
                <a:latin typeface="Aptos"/>
                <a:ea typeface="Aptos"/>
                <a:cs typeface="Aptos"/>
              </a:rPr>
              <a:t>✓  SHARED SCHEMAS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EE7B3CE-1A7B-4FBF-990B-1CCE28AFC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4095750"/>
            <a:ext cx="1762125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34D399">
              <a:alpha val="13333"/>
            </a:srgbClr>
          </a:solidFill>
          <a:ln xmlns:a="http://schemas.openxmlformats.org/drawingml/2006/main" w="9525">
            <a:solidFill>
              <a:srgbClr val="34D399">
                <a:alpha val="53333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81E7A15-6292-4E54-A0E6-80D649084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4114800"/>
            <a:ext cx="15716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34D399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34D399"/>
                </a:solidFill>
                <a:latin typeface="Aptos"/>
                <a:ea typeface="Aptos"/>
                <a:cs typeface="Aptos"/>
              </a:rPr>
              <a:t>✓  EVIDENCE GROUNDING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F3AF9E2-9306-4213-87DF-0CEFD5A44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0725" y="4095750"/>
            <a:ext cx="1428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BBF24">
              <a:alpha val="13333"/>
            </a:srgbClr>
          </a:solidFill>
          <a:ln xmlns:a="http://schemas.openxmlformats.org/drawingml/2006/main" w="9525">
            <a:solidFill>
              <a:srgbClr val="FBBF24">
                <a:alpha val="53333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D342A1F-4B19-4BA1-8A51-BA7017DA0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975" y="4114800"/>
            <a:ext cx="1238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BBF24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BBF24"/>
                </a:solidFill>
                <a:latin typeface="Aptos"/>
                <a:ea typeface="Aptos"/>
                <a:cs typeface="Aptos"/>
              </a:rPr>
              <a:t>✓  AGENT DISSENT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4ADF311-8C28-4657-84D8-3E8BF3727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76750"/>
            <a:ext cx="1571625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BBF24">
              <a:alpha val="13333"/>
            </a:srgbClr>
          </a:solidFill>
          <a:ln xmlns:a="http://schemas.openxmlformats.org/drawingml/2006/main" w="9525">
            <a:solidFill>
              <a:srgbClr val="FBBF24">
                <a:alpha val="53333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296DC24-5CE1-47ED-AC94-34C830AEB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95800"/>
            <a:ext cx="13811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BBF24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BBF24"/>
                </a:solidFill>
                <a:latin typeface="Aptos"/>
                <a:ea typeface="Aptos"/>
                <a:cs typeface="Aptos"/>
              </a:rPr>
              <a:t>✓  HUMAN APPROVAL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EDB6610-0593-45DA-9A49-C2FAE7F36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4476750"/>
            <a:ext cx="1381125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38BDF8">
              <a:alpha val="13333"/>
            </a:srgbClr>
          </a:solidFill>
          <a:ln xmlns:a="http://schemas.openxmlformats.org/drawingml/2006/main" w="9525">
            <a:solidFill>
              <a:srgbClr val="38BDF8">
                <a:alpha val="53333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F2B155E-9ADA-44B4-A265-CA2703AA0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4495800"/>
            <a:ext cx="11906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38BDF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38BDF8"/>
                </a:solidFill>
                <a:latin typeface="Aptos"/>
                <a:ea typeface="Aptos"/>
                <a:cs typeface="Aptos"/>
              </a:rPr>
              <a:t>✓  BAND ROUTING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1916901-45A4-4389-80F6-065F8C661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476750"/>
            <a:ext cx="1809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34D399">
              <a:alpha val="13333"/>
            </a:srgbClr>
          </a:solidFill>
          <a:ln xmlns:a="http://schemas.openxmlformats.org/drawingml/2006/main" w="9525">
            <a:solidFill>
              <a:srgbClr val="34D399">
                <a:alpha val="53333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8D40DEC-8702-446C-832B-502189F35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495800"/>
            <a:ext cx="1619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34D399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34D399"/>
                </a:solidFill>
                <a:latin typeface="Aptos"/>
                <a:ea typeface="Aptos"/>
                <a:cs typeface="Aptos"/>
              </a:rPr>
              <a:t>✓  AUDIT TRACEABILITY</a:t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75345aee1a4c04"/>
          <a:srcRect xmlns:a="http://schemas.openxmlformats.org/drawingml/2006/main" l="0" t="33369" r="0" b="3336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0" y="4953000"/>
            <a:ext cx="5314950" cy="1104900"/>
          </a:xfrm>
          <a:prstGeom xmlns:a="http://schemas.openxmlformats.org/drawingml/2006/main" prst="rect">
            <a:avLst/>
          </a:prstGeom>
        </p:spPr>
      </p:pic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23A54DA-9A7E-4E1C-A9E4-49F6D4D5C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0"/>
            <a:ext cx="49530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34D399">
              <a:alpha val="7059"/>
            </a:srgbClr>
          </a:solidFill>
          <a:ln xmlns:a="http://schemas.openxmlformats.org/drawingml/2006/main" w="9525">
            <a:solidFill>
              <a:srgbClr val="34D399">
                <a:alpha val="33333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45E2366-3E27-4E61-9B4D-726EEEE1F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43500"/>
            <a:ext cx="4457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4D399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34D399"/>
                </a:solidFill>
                <a:latin typeface="Aptos"/>
                <a:ea typeface="Aptos"/>
                <a:cs typeface="Aptos"/>
              </a:rPr>
              <a:t>THE FALLBACK IS A PRODUCT DECISION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450BBB0-A0EF-4DCB-B602-B1904BDA9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505450"/>
            <a:ext cx="4381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8F0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E8F0FF"/>
                </a:solidFill>
                <a:latin typeface="Aptos"/>
                <a:ea typeface="Aptos"/>
                <a:cs typeface="Aptos"/>
              </a:rPr>
              <a:t>Deterministic replay preserves the exact coordination contract when external services wobble.</a:t>
            </a:r>
          </a:p>
        </p:txBody>
      </p:sp>
    </p:spTree>
    <p:extLst>
      <p:ext uri="{BB962C8B-B14F-4D97-AF65-F5344CB8AC3E}">
        <p14:creationId xmlns:p14="http://schemas.microsoft.com/office/powerpoint/2010/main" val="74544443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6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C8BC852-DA55-424A-B27D-65443F99F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CE9F40-182B-4ED2-8D34-2D14FA383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4350"/>
            <a:ext cx="5905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4D39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34D399"/>
                </a:solidFill>
                <a:latin typeface="Aptos"/>
                <a:ea typeface="Aptos"/>
                <a:cs typeface="Aptos"/>
              </a:rPr>
              <a:t>SENTINEL RELAY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46E041-F70A-4664-A924-EAFE76339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59055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E8F0FF"/>
                </a:solidFill>
                <a:latin typeface="Aptos Display"/>
                <a:ea typeface="Aptos Display"/>
                <a:cs typeface="Aptos Display"/>
              </a:defRPr>
            </a:pPr>
            <a:r>
              <a:rPr sz="3750" b="1">
                <a:solidFill>
                  <a:srgbClr val="E8F0FF"/>
                </a:solidFill>
                <a:latin typeface="Aptos Display"/>
                <a:ea typeface="Aptos Display"/>
                <a:cs typeface="Aptos Display"/>
              </a:rPr>
              <a:t>From isolated assistants</a:t>
            </a:r>
          </a:p>
          <a:p xmlns:a="http://schemas.openxmlformats.org/drawingml/2006/main">
            <a:pPr algn="l">
              <a:defRPr sz="3750" b="1">
                <a:solidFill>
                  <a:srgbClr val="E8F0FF"/>
                </a:solidFill>
                <a:latin typeface="Aptos Display"/>
                <a:ea typeface="Aptos Display"/>
                <a:cs typeface="Aptos Display"/>
              </a:defRPr>
            </a:pPr>
            <a:r>
              <a:rPr sz="3750" b="1">
                <a:solidFill>
                  <a:srgbClr val="E8F0FF"/>
                </a:solidFill>
                <a:latin typeface="Aptos Display"/>
                <a:ea typeface="Aptos Display"/>
                <a:cs typeface="Aptos Display"/>
              </a:rPr>
              <a:t>to accountable response.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C5D23E-96F4-484F-9340-3187B9E58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00350"/>
            <a:ext cx="55245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91A4BF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91A4BF"/>
                </a:solidFill>
                <a:latin typeface="Aptos"/>
                <a:ea typeface="Aptos"/>
                <a:cs typeface="Aptos"/>
              </a:rPr>
              <a:t>Carry context forward.</a:t>
            </a:r>
          </a:p>
          <a:p xmlns:a="http://schemas.openxmlformats.org/drawingml/2006/main">
            <a:pPr algn="l">
              <a:defRPr sz="1725" b="0">
                <a:solidFill>
                  <a:srgbClr val="91A4BF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91A4BF"/>
                </a:solidFill>
                <a:latin typeface="Aptos"/>
                <a:ea typeface="Aptos"/>
                <a:cs typeface="Aptos"/>
              </a:rPr>
              <a:t>Challenge weak conclusions.</a:t>
            </a:r>
          </a:p>
          <a:p xmlns:a="http://schemas.openxmlformats.org/drawingml/2006/main">
            <a:pPr algn="l">
              <a:defRPr sz="1725" b="0">
                <a:solidFill>
                  <a:srgbClr val="91A4BF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91A4BF"/>
                </a:solidFill>
                <a:latin typeface="Aptos"/>
                <a:ea typeface="Aptos"/>
                <a:cs typeface="Aptos"/>
              </a:rPr>
              <a:t>Keep humans in control.</a:t>
            </a:r>
          </a:p>
          <a:p xmlns:a="http://schemas.openxmlformats.org/drawingml/2006/main">
            <a:pPr algn="l">
              <a:defRPr sz="1725" b="0">
                <a:solidFill>
                  <a:srgbClr val="91A4BF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91A4BF"/>
                </a:solidFill>
                <a:latin typeface="Aptos"/>
                <a:ea typeface="Aptos"/>
                <a:cs typeface="Aptos"/>
              </a:rPr>
              <a:t>Leave a report the company can trust.</a:t>
            </a:r>
          </a:p>
        </p:txBody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1527cb96584196"/>
          <a:srcRect xmlns:a="http://schemas.openxmlformats.org/drawingml/2006/main" l="13449" t="0" r="1344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0" y="590550"/>
            <a:ext cx="4991100" cy="42672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790980-D90F-4A86-BAC3-46A2CF528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90550"/>
            <a:ext cx="4991100" cy="426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233B5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92A555-6D91-45B4-B138-691E8848F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14850"/>
            <a:ext cx="20002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38BDF8">
              <a:alpha val="13333"/>
            </a:srgbClr>
          </a:solidFill>
          <a:ln xmlns:a="http://schemas.openxmlformats.org/drawingml/2006/main" w="9525">
            <a:solidFill>
              <a:srgbClr val="38BDF8">
                <a:alpha val="53333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DAD8FA-78EF-405F-BFAD-A10F8DF3E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33900"/>
            <a:ext cx="1809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38BDF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38BDF8"/>
                </a:solidFill>
                <a:latin typeface="Aptos"/>
                <a:ea typeface="Aptos"/>
                <a:cs typeface="Aptos"/>
              </a:rPr>
              <a:t>LIVE APPLICATION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E1AD03-1B51-4DF2-A5DB-684073DF8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33950"/>
            <a:ext cx="561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E8F0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E8F0FF"/>
                </a:solidFill>
                <a:latin typeface="Aptos"/>
                <a:ea typeface="Aptos"/>
                <a:cs typeface="Aptos"/>
              </a:rPr>
              <a:t>sentinel-relay-alpha.vercel.app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40E81F-82D2-4364-BFD7-ED1B067B1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86400"/>
            <a:ext cx="20002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A78BFA">
              <a:alpha val="13333"/>
            </a:srgbClr>
          </a:solidFill>
          <a:ln xmlns:a="http://schemas.openxmlformats.org/drawingml/2006/main" w="9525">
            <a:solidFill>
              <a:srgbClr val="A78BFA">
                <a:alpha val="53333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BCDF65-53CE-4333-8378-25B76ABA6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05450"/>
            <a:ext cx="1809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A78BF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A78BFA"/>
                </a:solidFill>
                <a:latin typeface="Aptos"/>
                <a:ea typeface="Aptos"/>
                <a:cs typeface="Aptos"/>
              </a:rPr>
              <a:t>PUBLIC REPOSITORY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AC53B7-DB8A-4B22-985B-72430C364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0"/>
            <a:ext cx="5715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8F0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E8F0FF"/>
                </a:solidFill>
                <a:latin typeface="Aptos"/>
                <a:ea typeface="Aptos"/>
                <a:cs typeface="Aptos"/>
              </a:rPr>
              <a:t>github.com/Caleb-Todd-commits/sentinel-relay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6C3C2F-3426-4684-AC34-D7C45CEF8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219700"/>
            <a:ext cx="49911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34D399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34D399"/>
                </a:solidFill>
                <a:latin typeface="Aptos"/>
                <a:ea typeface="Aptos"/>
                <a:cs typeface="Aptos"/>
              </a:rPr>
              <a:t>Band is the room where evidence becomes accountable action.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91C795-9832-4E97-9BC4-8FBEAB0B0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B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AC5A09-E568-4055-91FE-3320F183A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91A4B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91A4BF"/>
                </a:solidFill>
                <a:latin typeface="Aptos"/>
                <a:ea typeface="Aptos"/>
                <a:cs typeface="Aptos"/>
              </a:rPr>
              <a:t>SENTINEL RELAY  /  BAND OF AGENTS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69F6081-7150-463D-AB4F-577EFA8AE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609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91A4B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91A4BF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39230097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2026-06-19T03:23:30.1710000Z</dcterms:created>
  <dcterms:modified xsi:type="dcterms:W3CDTF">2026-06-19T03:23:30.1710000Z</dcterms:modified>
</coreProperties>
</file>